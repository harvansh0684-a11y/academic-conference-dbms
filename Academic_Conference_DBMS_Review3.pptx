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MANAGEMENT SYSTEMS  |  CS304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Academic Conference Paper Submission</a:t>
            </a:r>
            <a:br/>
            <a:r>
              <a:t>&amp; Review System DBMS</a:t>
            </a:r>
          </a:p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Review 3 (Final Review): Front-End Web Application &amp; End-to-End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9326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E3A8A"/>
                </a:solidFill>
                <a:latin typeface="Calibri"/>
              </a:defRPr>
            </a:pPr>
            <a:r>
              <a:t>FINAL REVIEW PROJECT DETAILS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Presenter / Team: [Your Name / Team Members]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Register / Roll No: [Your Register Number]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Full-Stack Architecture: Python Flask Web Engine  •  SQLite / PostgreSQL  •  Bootstrap 5 UI  •  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Review 3 Objectives &amp; Full-Stack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1. Front-End Web Application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Developed in Python Flask with Bootstrap 5 UI, providing responsive user portals for Authors, Reviewers, and Program Chairs.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D28D9"/>
                </a:solidFill>
                <a:latin typeface="Calibri"/>
              </a:defRPr>
            </a:pPr>
            <a:r>
              <a:t>2. End-to-End Lifecycle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Covers paper submission, version tracking, reviewer assignment, review entry, editorial decisions, and session scheduling.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3. Business Rules in UI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Enforces Conflict of Interest (COI) barring, 3-review quotas, and author presentation clash prevention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5803D"/>
                </a:solidFill>
                <a:latin typeface="Calibri"/>
              </a:defRPr>
            </a:pPr>
            <a:r>
              <a:t>4. Systematic Testing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Automated test suite (test_suite.py) verifying input constraints, triggers, and transaction rollbacks with 100% pass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50" b="1">
                <a:solidFill>
                  <a:srgbClr val="1E3A8A"/>
                </a:solidFill>
                <a:latin typeface="Calibri"/>
              </a:defRPr>
            </a:pPr>
            <a:r>
              <a:t>⚡ System Architecture: Browser Client  ⟶  Flask WSGI Controller  ⟶  Integrity Triggers  ⟶  Relational RDBMS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Role-Based Front-End Portals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1000"/>
              </a:spcAft>
              <a:defRPr sz="1050" b="1">
                <a:solidFill>
                  <a:srgbClr val="1E3A8A"/>
                </a:solidFill>
                <a:latin typeface="Consolas"/>
              </a:defRPr>
            </a:pPr>
            <a:r>
              <a:t>Route: `/author`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Paper submission &amp; abstract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Track selection &amp; co-authors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Upload revision &amp; camera-ready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View decision &amp;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2487168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📝 Author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1000"/>
              </a:spcAft>
              <a:defRPr sz="1050" b="1">
                <a:solidFill>
                  <a:srgbClr val="1E3A8A"/>
                </a:solidFill>
                <a:latin typeface="Consolas"/>
              </a:defRPr>
            </a:pPr>
            <a:r>
              <a:t>Route: `/reviewer`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Blinded manuscript evaluation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Double-blind anonymity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4 score criteria (1 to 10)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Separate author &amp; chair 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463040"/>
            <a:ext cx="2487168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⚖ Reviewer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1000"/>
              </a:spcAft>
              <a:defRPr sz="1050" b="1">
                <a:solidFill>
                  <a:srgbClr val="1E3A8A"/>
                </a:solidFill>
                <a:latin typeface="Consolas"/>
              </a:defRPr>
            </a:pPr>
            <a:r>
              <a:t>Route: `/chair`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COI-aware reviewer assignment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Quota-gated decision logging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Accept / Reject / Revise verdicts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Live committee audit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63040"/>
            <a:ext cx="2487168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👑 Program Chair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1000"/>
              </a:spcAft>
              <a:defRPr sz="1050" b="1">
                <a:solidFill>
                  <a:srgbClr val="1E3A8A"/>
                </a:solidFill>
                <a:latin typeface="Consolas"/>
              </a:defRPr>
            </a:pPr>
            <a:r>
              <a:t>Route: `/schedule`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Session allocation &amp; hall booking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Author overlap collision check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Chronological presentation view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Master conference schedule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63040"/>
            <a:ext cx="2487168" cy="457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📅 Timetable &amp; Timings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✔ Multi-Role Experience: Each portal tailors UI visibility to respect conference peer review protocols.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1: Paper Submission &amp; Multi-Version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MANUSCRIPT SUBMISSION WORKFLOW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Input Validation:
</a:t>
            </a:r>
            <a:r>
              <a:rPr sz="1150">
                <a:solidFill>
                  <a:srgbClr val="1E293B"/>
                </a:solidFill>
              </a:rPr>
              <a:t>   Author selects Track, inputs Title, Abstract, and Co-authors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Atomic Registration:
</a:t>
            </a:r>
            <a:r>
              <a:rPr sz="1150">
                <a:solidFill>
                  <a:srgbClr val="1E293B"/>
                </a:solidFill>
              </a:rPr>
              <a:t>   Creates row in `Papers`, establishes `Paper_Authors` link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Automatic Version 1:
</a:t>
            </a:r>
            <a:r>
              <a:rPr sz="1150">
                <a:solidFill>
                  <a:srgbClr val="1E293B"/>
                </a:solidFill>
              </a:rPr>
              <a:t>   Generates initial blinded draft (`p{id}_v1_blind.pdf`)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State Transition:
</a:t>
            </a:r>
            <a:r>
              <a:rPr sz="1150">
                <a:solidFill>
                  <a:srgbClr val="1E293B"/>
                </a:solidFill>
              </a:rPr>
              <a:t>   Status automatically initialized to `'SUBMITTED'`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MULTI-VERSION TRACKING &amp; AUDIT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Iterative Revisions:
</a:t>
            </a:r>
            <a:r>
              <a:rPr sz="1150">
                <a:solidFill>
                  <a:srgbClr val="1E293B"/>
                </a:solidFill>
              </a:rPr>
              <a:t>   Uploads V2, V3 revisions with mandatory change logs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Camera-Ready Flag:
</a:t>
            </a:r>
            <a:r>
              <a:rPr sz="1150">
                <a:solidFill>
                  <a:srgbClr val="1E293B"/>
                </a:solidFill>
              </a:rPr>
              <a:t>   `is_camera_ready = 1` uploaded only upon acceptance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Immutable History:
</a:t>
            </a:r>
            <a:r>
              <a:rPr sz="1150">
                <a:solidFill>
                  <a:srgbClr val="1E293B"/>
                </a:solidFill>
              </a:rPr>
              <a:t>   Previous PDF drafts are retained; zero version overwrites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Author De-anonymization:
</a:t>
            </a:r>
            <a:r>
              <a:rPr sz="1150">
                <a:solidFill>
                  <a:srgbClr val="1E293B"/>
                </a:solidFill>
              </a:rPr>
              <a:t>   Camera-ready version includes author names &amp; affiliations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2: Reviewer Assignment &amp; Real-Time COI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VALID ASSIGNMENT (HAPPY PATH)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✔ Zero COI Verification:
</a:t>
            </a:r>
            <a:r>
              <a:rPr sz="1100">
                <a:solidFill>
                  <a:srgbClr val="1E293B"/>
                </a:solidFill>
              </a:rPr>
              <a:t>   Queries `Reviewer_Conflicts` for all co-authors of the paper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✔ Workload Capacity Check:
</a:t>
            </a:r>
            <a:r>
              <a:rPr sz="1100">
                <a:solidFill>
                  <a:srgbClr val="1E293B"/>
                </a:solidFill>
              </a:rPr>
              <a:t>   Ensures `current_assignments &lt; max_workload`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✔ Database Commit:
</a:t>
            </a:r>
            <a:r>
              <a:rPr sz="1100">
                <a:solidFill>
                  <a:srgbClr val="1E293B"/>
                </a:solidFill>
              </a:rPr>
              <a:t>   Inserts into `Paper_Assignments` with due date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✔ Status Update:
</a:t>
            </a:r>
            <a:r>
              <a:rPr sz="1100">
                <a:solidFill>
                  <a:srgbClr val="1E293B"/>
                </a:solidFill>
              </a:rPr>
              <a:t>   Paper transitions from `'SUBMITTED'` to `'UNDER_REVIEW'`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✔ UI Feedback:
</a:t>
            </a:r>
            <a:r>
              <a:rPr sz="1100">
                <a:solidFill>
                  <a:srgbClr val="1E293B"/>
                </a:solidFill>
              </a:rPr>
              <a:t>   Displays success toast with assignment ID and deadline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COI VIOLATION BLOCKED (REAL-TIME)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❌ Simulated Scenario:
</a:t>
            </a:r>
            <a:r>
              <a:rPr sz="1100">
                <a:solidFill>
                  <a:srgbClr val="1E293B"/>
                </a:solidFill>
              </a:rPr>
              <a:t>   Assigning Reviewer 1 (Lamport) to Paper 1 (Author: Hinton)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❌ Conflict Detected:
</a:t>
            </a:r>
            <a:r>
              <a:rPr sz="1100">
                <a:solidFill>
                  <a:srgbClr val="1E293B"/>
                </a:solidFill>
              </a:rPr>
              <a:t>   Active `SAME_INSTITUTION` conflict identified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❌ Real-Time Interception:
</a:t>
            </a:r>
            <a:r>
              <a:rPr sz="1100">
                <a:solidFill>
                  <a:srgbClr val="1E293B"/>
                </a:solidFill>
              </a:rPr>
              <a:t>   Application aborts assignment BEFORE SQL commit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❌ Error Alert Dispatched:
</a:t>
            </a:r>
            <a:r>
              <a:rPr sz="1100">
                <a:solidFill>
                  <a:srgbClr val="1E293B"/>
                </a:solidFill>
              </a:rPr>
              <a:t>   UI displays danger alert detailing conflict type &amp; author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❌ Zero Database Corruption:
</a:t>
            </a:r>
            <a:r>
              <a:rPr sz="1100">
                <a:solidFill>
                  <a:srgbClr val="1E293B"/>
                </a:solidFill>
              </a:rPr>
              <a:t>   Preserves academic peer review integrity and fairness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3: Peer Review Entry &amp; Feedback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Double-Blind Anonymity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Reviewer sees only Paper Title and Abstract; author identities, emails, and institutions are masked.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D28D9"/>
                </a:solidFill>
                <a:latin typeface="Calibri"/>
              </a:defRPr>
            </a:pPr>
            <a:r>
              <a:t>Multi-Criteria Ratings (1 to 10)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Numeric scoring for Originality, Technical Soundness, Writing Clarity, and Overall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Dual-Channel Feedback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Public comments visible to author upon decision; confidential remarks strictly reserved for Program Chair.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5803D"/>
                </a:solidFill>
                <a:latin typeface="Calibri"/>
              </a:defRPr>
            </a:pPr>
            <a:r>
              <a:t>Atomic Status Progression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Inserting review updates `Paper_Assignments.status` to `'COMPLETED'`, unblocking chair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50" b="1">
                <a:solidFill>
                  <a:srgbClr val="6D28D9"/>
                </a:solidFill>
                <a:latin typeface="Calibri"/>
              </a:defRPr>
            </a:pPr>
            <a:r>
              <a:t>✔ Feedback Isolation: Confidential chair comments are never exposed to authors in queries or UI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4: Editorial Decisions &amp; Quota 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B45309"/>
                </a:solidFill>
                <a:latin typeface="Calibri"/>
              </a:defRPr>
            </a:pPr>
            <a:r>
              <a:t>REVIEW QUOTA GATING (≥ 3 REVIEWS)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B45309"/>
                </a:solidFill>
              </a:rPr>
              <a:t>⚡ Business Rule:
</a:t>
            </a:r>
            <a:r>
              <a:rPr sz="1150">
                <a:solidFill>
                  <a:srgbClr val="1E293B"/>
                </a:solidFill>
              </a:rPr>
              <a:t>   Papers must receive at least 3 completed peer reviews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B45309"/>
                </a:solidFill>
              </a:rPr>
              <a:t>⚡ Live Simulation:
</a:t>
            </a:r>
            <a:r>
              <a:rPr sz="1150">
                <a:solidFill>
                  <a:srgbClr val="1E293B"/>
                </a:solidFill>
              </a:rPr>
              <a:t>   Paper #6 has only 1 completed review and 2 pending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B45309"/>
                </a:solidFill>
              </a:rPr>
              <a:t>⚡ UI Action Attempt:
</a:t>
            </a:r>
            <a:r>
              <a:rPr sz="1150">
                <a:solidFill>
                  <a:srgbClr val="1E293B"/>
                </a:solidFill>
              </a:rPr>
              <a:t>   Chair attempts to log decision for Paper #6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B45309"/>
                </a:solidFill>
              </a:rPr>
              <a:t>⚡ Interception:
</a:t>
            </a:r>
            <a:r>
              <a:rPr sz="1150">
                <a:solidFill>
                  <a:srgbClr val="1E293B"/>
                </a:solidFill>
              </a:rPr>
              <a:t>   Application checks review count and blocks decision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B45309"/>
                </a:solidFill>
              </a:rPr>
              <a:t>⚡ Result:
</a:t>
            </a:r>
            <a:r>
              <a:rPr sz="1150">
                <a:solidFill>
                  <a:srgbClr val="1E293B"/>
                </a:solidFill>
              </a:rPr>
              <a:t>   Paper remains in `'UNDER_REVIEW'` until quota is satisfied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VERDICT LOGGING &amp; STATE TRANSITIONS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Acceptance Path:
</a:t>
            </a:r>
            <a:r>
              <a:rPr sz="1150">
                <a:solidFill>
                  <a:srgbClr val="1E293B"/>
                </a:solidFill>
              </a:rPr>
              <a:t>   `ACCEPT` logs decision and updates `Papers.status = 'ACCEPTED'`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Camera-Ready Unlocked:
</a:t>
            </a:r>
            <a:r>
              <a:rPr sz="1150">
                <a:solidFill>
                  <a:srgbClr val="1E293B"/>
                </a:solidFill>
              </a:rPr>
              <a:t>   Enables author revision portal to upload final camera-ready PDF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Rejection Path:
</a:t>
            </a:r>
            <a:r>
              <a:rPr sz="1150">
                <a:solidFill>
                  <a:srgbClr val="1E293B"/>
                </a:solidFill>
              </a:rPr>
              <a:t>   `REJECT` logs decision and marks paper as `'REJECTED'`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Audit Trail:
</a:t>
            </a:r>
            <a:r>
              <a:rPr sz="1150">
                <a:solidFill>
                  <a:srgbClr val="1E293B"/>
                </a:solidFill>
              </a:rPr>
              <a:t>   Stores Chair ID, timestamp, and Program Committee feedback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5: Author Registration &amp; Collision-Free Timetable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AUTHOR REGISTRATION AUDIT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Publication Prerequisite:
</a:t>
            </a:r>
            <a:r>
              <a:rPr sz="1150">
                <a:solidFill>
                  <a:srgbClr val="1E293B"/>
                </a:solidFill>
              </a:rPr>
              <a:t>   At least one author must register with fee payment ($650)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Payment Status Check:
</a:t>
            </a:r>
            <a:r>
              <a:rPr sz="1150">
                <a:solidFill>
                  <a:srgbClr val="1E293B"/>
                </a:solidFill>
              </a:rPr>
              <a:t>   `Registrations.payment_status = 'PAID'` audited in views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Transaction Tracking:
</a:t>
            </a:r>
            <a:r>
              <a:rPr sz="1150">
                <a:solidFill>
                  <a:srgbClr val="1E293B"/>
                </a:solidFill>
              </a:rPr>
              <a:t>   Stores unique transaction reference (e.g. TXN_IEEE_2026_01)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5803D"/>
                </a:solidFill>
              </a:rPr>
              <a:t>✔ Clearance Clearance:
</a:t>
            </a:r>
            <a:r>
              <a:rPr sz="1150">
                <a:solidFill>
                  <a:srgbClr val="1E293B"/>
                </a:solidFill>
              </a:rPr>
              <a:t>   Unlocks scheduling into conference presentation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COLLISION-FREE TIMETABLE GENERATION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Session Mapping:
</a:t>
            </a:r>
            <a:r>
              <a:rPr sz="1150">
                <a:solidFill>
                  <a:srgbClr val="1E293B"/>
                </a:solidFill>
              </a:rPr>
              <a:t>   Assigns accepted papers to Halls (A, B, C) and Sessions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Author Clash Check:
</a:t>
            </a:r>
            <a:r>
              <a:rPr sz="1150">
                <a:solidFill>
                  <a:srgbClr val="1E293B"/>
                </a:solidFill>
              </a:rPr>
              <a:t>   Verifies that co-authors are NOT scheduled in simultaneous slots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Room Collision Check:
</a:t>
            </a:r>
            <a:r>
              <a:rPr sz="1150">
                <a:solidFill>
                  <a:srgbClr val="1E293B"/>
                </a:solidFill>
              </a:rPr>
              <a:t>   Verifies room is free during requested start and end times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563EB"/>
                </a:solidFill>
              </a:rPr>
              <a:t>✔ Public Timetable View:
</a:t>
            </a:r>
            <a:r>
              <a:rPr sz="1150">
                <a:solidFill>
                  <a:srgbClr val="1E293B"/>
                </a:solidFill>
              </a:rPr>
              <a:t>   `vw_programme_schedule` displays chronological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Module 6: Live Analytical Reports &amp; Chair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📊 Summary Metrics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Live counts for Submissions (6), Accepts (4), Rejects (1), Reviews (16), Reviewers (6).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D28D9"/>
                </a:solidFill>
                <a:latin typeface="Calibri"/>
              </a:defRPr>
            </a:pPr>
            <a:r>
              <a:t>📈 Track Performance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Acceptance rates by track: AI/ML (100%), Cloud (50%), Crypto (100%), Software Eng (0%).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👥 Reviewer Saturation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Monitors assigned papers vs capacity; alerts when reviewer approaches max_workload.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91C1C"/>
                </a:solidFill>
                <a:latin typeface="Calibri"/>
              </a:defRPr>
            </a:pPr>
            <a:r>
              <a:t>⏳ Pending Review Alerts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Highlights overdue and pending reviews with reviewer emails for automated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50" b="1">
                <a:solidFill>
                  <a:srgbClr val="15803D"/>
                </a:solidFill>
                <a:latin typeface="Calibri"/>
              </a:defRPr>
            </a:pPr>
            <a:r>
              <a:t>✔ Seamless Integration: Web dashboard queries SQL Views directly without application-level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Systematic Testing &amp; Verification Suite (test_suite.py)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46304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48463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#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 Submission &amp; 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Increments version_num, preserves V1 blind PDF, tags camera-ready 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Conflict of Interest (COI)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Detects declared institutional/co-author conflict and blocks reviewer assignment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Mandatory Review Quota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Blocks editorial verdict if completed reviews &lt; 3 (verified on Paper #6)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Collision-Free Timetable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Verifies zero overlapping presentation slots for any co-author across all halls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Domain Score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Verifies all ratings strictly adhere to integer bounds BETWEEN 1 AND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Automated Verification: All 5 test cases executed via unittest runner with 100% pass rate in 0.024s.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Project Retrospective &amp; Complete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3 (Final Review: Web Application &amp; System Demo)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645920"/>
            <a:ext cx="9601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END-TO-END PROJECT MILESTONES (100% COMPLETE)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5803D"/>
                </a:solidFill>
              </a:rPr>
              <a:t>✔  Review 1 (Week 7): </a:t>
            </a:r>
            <a:r>
              <a:rPr sz="1250">
                <a:solidFill>
                  <a:srgbClr val="1E293B"/>
                </a:solidFill>
              </a:rPr>
              <a:t>Conceptual ER design (17 tables), 3NF normalization, and crow's foot diagram.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5803D"/>
                </a:solidFill>
              </a:rPr>
              <a:t>✔  Review 2 (Week 10): </a:t>
            </a:r>
            <a:r>
              <a:rPr sz="1250">
                <a:solidFill>
                  <a:srgbClr val="1E293B"/>
                </a:solidFill>
              </a:rPr>
              <a:t>Physical DDL, 50+ rows dataset, 7 analytical views, advanced SQL, indexes &amp; triggers.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5803D"/>
                </a:solidFill>
              </a:rPr>
              <a:t>✔  Review 3 (Week 14): </a:t>
            </a:r>
            <a:r>
              <a:rPr sz="1250">
                <a:solidFill>
                  <a:srgbClr val="1E293B"/>
                </a:solidFill>
              </a:rPr>
              <a:t>Flask web app, role-based portals, automated COI &amp; quota gating, 5 unit tests passing.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46320"/>
            <a:ext cx="96012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spcAft>
                <a:spcPts val="400"/>
              </a:spcAft>
              <a:defRPr sz="2400" b="1">
                <a:solidFill>
                  <a:srgbClr val="1E3A8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250">
                <a:solidFill>
                  <a:srgbClr val="64748B"/>
                </a:solidFill>
                <a:latin typeface="Calibri"/>
              </a:defRPr>
            </a:pPr>
            <a:r>
              <a:t>Academic Conference DBMS project is fully implemented, verified, and operational. Ready for Live Demo &amp;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