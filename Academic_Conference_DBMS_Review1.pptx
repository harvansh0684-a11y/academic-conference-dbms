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280160"/>
            <a:ext cx="9601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2563EB"/>
                </a:solidFill>
                <a:latin typeface="Calibri"/>
              </a:defRPr>
            </a:pPr>
            <a:r>
              <a:t>DATABASE MANAGEMENT SYSTEMS  |  CS304</a:t>
            </a:r>
          </a:p>
          <a:p>
            <a:pPr>
              <a:spcAft>
                <a:spcPts val="1400"/>
              </a:spcAft>
              <a:defRPr sz="3200" b="1">
                <a:solidFill>
                  <a:srgbClr val="0F172A"/>
                </a:solidFill>
                <a:latin typeface="Calibri"/>
              </a:defRPr>
            </a:pPr>
            <a:r>
              <a:t>Academic Conference Paper Submission</a:t>
            </a:r>
            <a:br/>
            <a:r>
              <a:t>&amp; Review System DBMS</a:t>
            </a:r>
          </a:p>
          <a:p>
            <a:pPr>
              <a:defRPr sz="1600">
                <a:solidFill>
                  <a:srgbClr val="64748B"/>
                </a:solidFill>
                <a:latin typeface="Calibri"/>
              </a:defRPr>
            </a:pPr>
            <a:r>
              <a:t>Review 1 (Week 7): Scope, Conceptual ER Design &amp; Relational Schema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97680"/>
            <a:ext cx="9326880" cy="1645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28600"/>
          <a:lstStyle/>
          <a:p>
            <a:pPr algn="ctr">
              <a:spcAft>
                <a:spcPts val="800"/>
              </a:spcAft>
              <a:defRPr sz="1200" b="1">
                <a:solidFill>
                  <a:srgbClr val="1E3A8A"/>
                </a:solidFill>
                <a:latin typeface="Calibri"/>
              </a:defRPr>
            </a:pPr>
            <a:r>
              <a:t>PROJECT METADATA &amp; TEAM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Presenter / Team: [Your Name / Team Members]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Register / Roll No: [Your Register Number]</a:t>
            </a:r>
          </a:p>
          <a:p>
            <a:pPr>
              <a:defRPr sz="1200">
                <a:solidFill>
                  <a:srgbClr val="64748B"/>
                </a:solidFill>
                <a:latin typeface="Calibri"/>
              </a:defRPr>
            </a:pPr>
            <a:r>
              <a:t>• Target Database: PostgreSQL / MySQL  |  Evaluation Weightage: 5 Marks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6012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Calibri"/>
              </a:defRPr>
            </a:pPr>
            <a:r>
              <a:t>Problem Statement: Why Email &amp; Spreadsheets Fail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20116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Academic Conference DBMS  •  Review 1 (Week 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B91C1C"/>
                </a:solidFill>
                <a:latin typeface="Calibri"/>
              </a:defRPr>
            </a:pPr>
            <a:r>
              <a:t>📁 Version Confusion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Authors email updated PDFs; reviewers evaluate old drafts.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• Loss of camera-ready final files.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63040"/>
            <a:ext cx="109728" cy="2057400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B91C1C"/>
                </a:solidFill>
                <a:latin typeface="Calibri"/>
              </a:defRPr>
            </a:pPr>
            <a:r>
              <a:t>⚖ Conflict of Interest (COI)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Reviewers assigned papers written by close collaborators.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• Ethical breach &amp; biased evaluation.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109728" cy="2057400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379476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B91C1C"/>
                </a:solidFill>
                <a:latin typeface="Calibri"/>
              </a:defRPr>
            </a:pPr>
            <a:r>
              <a:t>⏳ Workload Imbalance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Some reviewers get 10 papers, others get none.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• Missed deadlines &amp; missing 3-review quota.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794760"/>
            <a:ext cx="109728" cy="2057400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17920" y="3794760"/>
            <a:ext cx="51206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B91C1C"/>
                </a:solidFill>
                <a:latin typeface="Calibri"/>
              </a:defRPr>
            </a:pPr>
            <a:r>
              <a:t>📅 Schedule Collisions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Calibri"/>
              </a:defRPr>
            </a:pPr>
            <a:r>
              <a:t>• Authors with multiple papers booked in two halls at once.</a:t>
            </a:r>
          </a:p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• Overlapping presentation slots.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794760"/>
            <a:ext cx="109728" cy="2057400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5989320"/>
            <a:ext cx="10515600" cy="384048"/>
          </a:xfrm>
          <a:prstGeom prst="roundRect">
            <a:avLst/>
          </a:prstGeom>
          <a:solidFill>
            <a:srgbClr val="F0FDF4"/>
          </a:solidFill>
          <a:ln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1150" b="1">
                <a:solidFill>
                  <a:srgbClr val="15803D"/>
                </a:solidFill>
                <a:latin typeface="Calibri"/>
              </a:defRPr>
            </a:pPr>
            <a:r>
              <a:t>✔ Solution: A 3NF relational database enforcing versioning, automated COI blocking, and slot validation.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6012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Calibri"/>
              </a:defRPr>
            </a:pPr>
            <a:r>
              <a:t>Project Scope &amp; Core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20116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Academic Conference DBMS  •  Review 1 (Week 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400"/>
              </a:spcAft>
              <a:defRPr sz="1600" b="1">
                <a:solidFill>
                  <a:srgbClr val="1E3A8A"/>
                </a:solidFill>
                <a:latin typeface="Calibri"/>
              </a:defRPr>
            </a:pPr>
            <a:r>
              <a:t>🎯 CORE OBJECTIVES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2563EB"/>
                </a:solidFill>
              </a:rPr>
              <a:t>✔ 3NF Database Design: </a:t>
            </a:r>
            <a:r>
              <a:rPr sz="1200">
                <a:solidFill>
                  <a:srgbClr val="1E293B"/>
                </a:solidFill>
              </a:rPr>
              <a:t>Eliminate data redundancy &amp; anomalies.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2563EB"/>
                </a:solidFill>
              </a:rPr>
              <a:t>✔ Double-Blind Peer Review: </a:t>
            </a:r>
            <a:r>
              <a:rPr sz="1200">
                <a:solidFill>
                  <a:srgbClr val="1E293B"/>
                </a:solidFill>
              </a:rPr>
              <a:t>Conceal author identity from reviewers.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2563EB"/>
                </a:solidFill>
              </a:rPr>
              <a:t>✔ Automated COI Prevention: </a:t>
            </a:r>
            <a:r>
              <a:rPr sz="1200">
                <a:solidFill>
                  <a:srgbClr val="1E293B"/>
                </a:solidFill>
              </a:rPr>
              <a:t>Block biased reviewer assignments.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2563EB"/>
                </a:solidFill>
              </a:rPr>
              <a:t>✔ Multi-Version Tracking: </a:t>
            </a:r>
            <a:r>
              <a:rPr sz="1200">
                <a:solidFill>
                  <a:srgbClr val="1E293B"/>
                </a:solidFill>
              </a:rPr>
              <a:t>Preserve initial drafts &amp; camera-ready PDFs.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2563EB"/>
                </a:solidFill>
              </a:rPr>
              <a:t>✔ Conflict-Free Scheduling: </a:t>
            </a:r>
            <a:r>
              <a:rPr sz="1200">
                <a:solidFill>
                  <a:srgbClr val="1E293B"/>
                </a:solidFill>
              </a:rPr>
              <a:t>No author or hall presentation clashes.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274320"/>
          <a:lstStyle/>
          <a:p>
            <a:pPr algn="ctr">
              <a:spcAft>
                <a:spcPts val="1400"/>
              </a:spcAft>
              <a:defRPr sz="1600" b="1">
                <a:solidFill>
                  <a:srgbClr val="1E3A8A"/>
                </a:solidFill>
                <a:latin typeface="Calibri"/>
              </a:defRPr>
            </a:pPr>
            <a:r>
              <a:t>📦 SYSTEM SCOPE &amp; USERS</a:t>
            </a:r>
          </a:p>
          <a:p>
            <a:pPr>
              <a:spcAft>
                <a:spcPts val="400"/>
              </a:spcAft>
              <a:defRPr b="1" sz="1200">
                <a:solidFill>
                  <a:srgbClr val="64748B"/>
                </a:solidFill>
              </a:defRPr>
            </a:pPr>
            <a:r>
              <a:t>IN-SCOPE FOR REVIEW 1:</a:t>
            </a:r>
          </a:p>
          <a:p>
            <a:pPr>
              <a:spcAft>
                <a:spcPts val="400"/>
              </a:spcAft>
              <a:defRPr sz="1250">
                <a:solidFill>
                  <a:srgbClr val="1E293B"/>
                </a:solidFill>
              </a:defRPr>
            </a:pPr>
            <a:r>
              <a:t>• 14 Principal Entities &amp; ER Diagram</a:t>
            </a:r>
          </a:p>
          <a:p>
            <a:pPr>
              <a:spcAft>
                <a:spcPts val="400"/>
              </a:spcAft>
              <a:defRPr sz="1250">
                <a:solidFill>
                  <a:srgbClr val="1E293B"/>
                </a:solidFill>
              </a:defRPr>
            </a:pPr>
            <a:r>
              <a:t>• Initial Relational Schema in 3NF</a:t>
            </a:r>
          </a:p>
          <a:p>
            <a:pPr>
              <a:spcAft>
                <a:spcPts val="400"/>
              </a:spcAft>
              <a:defRPr sz="1250">
                <a:solidFill>
                  <a:srgbClr val="1E293B"/>
                </a:solidFill>
              </a:defRPr>
            </a:pPr>
            <a:r>
              <a:t>• Primary Keys, Foreign Keys, CHECK constraints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b="1" sz="1200">
                <a:solidFill>
                  <a:srgbClr val="64748B"/>
                </a:solidFill>
              </a:defRPr>
            </a:pPr>
            <a:r>
              <a:t>USER ROLES (RBAC):</a:t>
            </a:r>
          </a:p>
          <a:p>
            <a:pPr>
              <a:spcAft>
                <a:spcPts val="400"/>
              </a:spcAft>
              <a:defRPr sz="1250">
                <a:solidFill>
                  <a:srgbClr val="1E293B"/>
                </a:solidFill>
              </a:defRPr>
            </a:pPr>
            <a:r>
              <a:t>• Program Chair &amp; Track Chairs</a:t>
            </a:r>
          </a:p>
          <a:p>
            <a:pPr>
              <a:spcAft>
                <a:spcPts val="400"/>
              </a:spcAft>
              <a:defRPr sz="1250">
                <a:solidFill>
                  <a:srgbClr val="1E293B"/>
                </a:solidFill>
              </a:defRPr>
            </a:pPr>
            <a:r>
              <a:t>• Authors &amp; Co-Authors</a:t>
            </a:r>
          </a:p>
          <a:p>
            <a:pPr>
              <a:spcAft>
                <a:spcPts val="400"/>
              </a:spcAft>
              <a:defRPr sz="1250">
                <a:solidFill>
                  <a:srgbClr val="1E293B"/>
                </a:solidFill>
              </a:defRPr>
            </a:pPr>
            <a:r>
              <a:t>• Reviewers &amp; Attendees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6012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Calibri"/>
              </a:defRPr>
            </a:pPr>
            <a:r>
              <a:t>System Workflow: From Submission to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20116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4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Academic Conference DBMS  •  Review 1 (Week 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645920"/>
            <a:ext cx="19659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640080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2563EB"/>
                </a:solidFill>
                <a:latin typeface="Calibri"/>
              </a:defRPr>
            </a:pPr>
            <a:r>
              <a:t>Submission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Author uploads paper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Co-authors assigned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Blinded PDF (V1)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45920"/>
            <a:ext cx="1965960" cy="50292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834640" y="3291840"/>
            <a:ext cx="13716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99232" y="1645920"/>
            <a:ext cx="19659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640080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6D28D9"/>
                </a:solidFill>
                <a:latin typeface="Calibri"/>
              </a:defRPr>
            </a:pPr>
            <a:r>
              <a:t>Reviewer Match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Topic expertise set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Conflicts declared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Zero-COI assignment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99232" y="1645920"/>
            <a:ext cx="1965960" cy="50292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010912" y="3291840"/>
            <a:ext cx="13716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75504" y="1645920"/>
            <a:ext cx="19659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640080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B45309"/>
                </a:solidFill>
                <a:latin typeface="Calibri"/>
              </a:defRPr>
            </a:pPr>
            <a:r>
              <a:t>Peer Review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≥ 3 Reviews/paper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Scores 1 to 10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Dual comments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75504" y="1645920"/>
            <a:ext cx="1965960" cy="50292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187184" y="3291840"/>
            <a:ext cx="13716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51775" y="1645920"/>
            <a:ext cx="19659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640080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B91C1C"/>
                </a:solidFill>
                <a:latin typeface="Calibri"/>
              </a:defRPr>
            </a:pPr>
            <a:r>
              <a:t>Decision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Chair records verdict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Accept / Reject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Camera-ready PDF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51775" y="1645920"/>
            <a:ext cx="1965960" cy="502920"/>
          </a:xfrm>
          <a:prstGeom prst="round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363455" y="3291840"/>
            <a:ext cx="137160" cy="22860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528048" y="1645920"/>
            <a:ext cx="1965960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640080" wrap="square"/>
          <a:lstStyle/>
          <a:p>
            <a:pPr algn="ctr">
              <a:spcAft>
                <a:spcPts val="1000"/>
              </a:spcAft>
              <a:defRPr sz="1400" b="1">
                <a:solidFill>
                  <a:srgbClr val="15803D"/>
                </a:solidFill>
                <a:latin typeface="Calibri"/>
              </a:defRPr>
            </a:pPr>
            <a:r>
              <a:t>Scheduling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Author registers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Hall &amp; slot assigned</a:t>
            </a:r>
          </a:p>
          <a:p>
            <a:pPr>
              <a:spcAft>
                <a:spcPts val="5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No time overlaps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28048" y="1645920"/>
            <a:ext cx="1965960" cy="50292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STEP 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806440"/>
            <a:ext cx="1051560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150" b="1">
                <a:solidFill>
                  <a:srgbClr val="1E3A8A"/>
                </a:solidFill>
                <a:latin typeface="Calibri"/>
              </a:defRPr>
            </a:pPr>
            <a:r>
              <a:t>⚡ Automated Progression: Each stage is strictly gated by database integrity constraints.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6012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Calibri"/>
              </a:defRPr>
            </a:pPr>
            <a:r>
              <a:t>Key Functional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20116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Academic Conference DBMS  •  Review 1 (Week 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3383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502920" wrap="square"/>
          <a:lstStyle/>
          <a:p>
            <a:pPr algn="ctr"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Unique auto-increment paper_id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Blinded manuscript upload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Multi-version tracking (V1, V2, Camera-ready)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63040"/>
            <a:ext cx="3383280" cy="4114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200" b="1">
                <a:solidFill>
                  <a:srgbClr val="1E3A8A"/>
                </a:solidFill>
                <a:latin typeface="Calibri"/>
              </a:defRPr>
            </a:pPr>
            <a:r>
              <a:t>1. Paper &amp; Versioning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502920" wrap="square"/>
          <a:lstStyle/>
          <a:p>
            <a:pPr algn="ctr"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Reviewers set topic competence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Explicit conflict declaration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Automated conflict barring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63040"/>
            <a:ext cx="3383280" cy="4114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200" b="1">
                <a:solidFill>
                  <a:srgbClr val="1E3A8A"/>
                </a:solidFill>
                <a:latin typeface="Calibri"/>
              </a:defRPr>
            </a:pPr>
            <a:r>
              <a:t>2. Expertise &amp; COI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1463040"/>
            <a:ext cx="3383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502920" wrap="square"/>
          <a:lstStyle/>
          <a:p>
            <a:pPr algn="ctr"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Max workload limit per reviewer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Minimum 3 reviews required per paper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Workload balance tracking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463040"/>
            <a:ext cx="3383280" cy="4114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200" b="1">
                <a:solidFill>
                  <a:srgbClr val="1E3A8A"/>
                </a:solidFill>
                <a:latin typeface="Calibri"/>
              </a:defRPr>
            </a:pPr>
            <a:r>
              <a:t>3. Reviewer Assignment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749039"/>
            <a:ext cx="3383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502920" wrap="square"/>
          <a:lstStyle/>
          <a:p>
            <a:pPr algn="ctr"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1 to 10 scale (Originality, Soundness, Clarity)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Public comments to author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Confidential remarks to Chair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749039"/>
            <a:ext cx="3383280" cy="4114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200" b="1">
                <a:solidFill>
                  <a:srgbClr val="1E3A8A"/>
                </a:solidFill>
                <a:latin typeface="Calibri"/>
              </a:defRPr>
            </a:pPr>
            <a:r>
              <a:t>4. Review Scoring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749039"/>
            <a:ext cx="3383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502920" wrap="square"/>
          <a:lstStyle/>
          <a:p>
            <a:pPr algn="ctr"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Formal verdict: Accept / Reject / Revise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Only decided after ≥ 3 reviews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Author notification logging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749039"/>
            <a:ext cx="3383280" cy="4114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200" b="1">
                <a:solidFill>
                  <a:srgbClr val="1E3A8A"/>
                </a:solidFill>
                <a:latin typeface="Calibri"/>
              </a:defRPr>
            </a:pPr>
            <a:r>
              <a:t>5. Editorial Decisions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3749039"/>
            <a:ext cx="3383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502920" wrap="square"/>
          <a:lstStyle/>
          <a:p>
            <a:pPr algn="ctr"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Verification of paid author registration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Hall &amp; time slot allocation</a:t>
            </a:r>
          </a:p>
          <a:p>
            <a:pPr>
              <a:spcAft>
                <a:spcPts val="400"/>
              </a:spcAft>
              <a:defRPr sz="1150">
                <a:solidFill>
                  <a:srgbClr val="1E293B"/>
                </a:solidFill>
                <a:latin typeface="Calibri"/>
              </a:defRPr>
            </a:pPr>
            <a:r>
              <a:t>• Zero author schedule overlap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79" y="3749039"/>
            <a:ext cx="3383280" cy="41148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200" b="1">
                <a:solidFill>
                  <a:srgbClr val="1E3A8A"/>
                </a:solidFill>
                <a:latin typeface="Calibri"/>
              </a:defRPr>
            </a:pPr>
            <a:r>
              <a:t>6. Presentation Scheduling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6012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Calibri"/>
              </a:defRPr>
            </a:pPr>
            <a:r>
              <a:t>Conceptual Design: The 14 Principal Entities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20116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6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Academic Conference DBMS  •  Review 1 (Week 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2487168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594360" wrap="square"/>
          <a:lstStyle/>
          <a:p>
            <a:pPr algn="ctr">
              <a:spcAft>
                <a:spcPts val="200"/>
              </a:spcAft>
            </a:pPr>
            <a:r>
              <a:rPr b="1" sz="1200">
                <a:solidFill>
                  <a:srgbClr val="1E293B"/>
                </a:solidFill>
              </a:rPr>
              <a:t>Conferences
</a:t>
            </a:r>
            <a:r>
              <a:rPr sz="1000">
                <a:solidFill>
                  <a:srgbClr val="64748B"/>
                </a:solidFill>
              </a:rPr>
              <a:t>Root event, dates, deadline
</a:t>
            </a:r>
          </a:p>
          <a:p>
            <a:pPr>
              <a:spcAft>
                <a:spcPts val="200"/>
              </a:spcAft>
            </a:pPr>
            <a:r>
              <a:rPr b="1" sz="1200">
                <a:solidFill>
                  <a:srgbClr val="1E293B"/>
                </a:solidFill>
              </a:rPr>
              <a:t>Tracks
</a:t>
            </a:r>
            <a:r>
              <a:rPr sz="1000">
                <a:solidFill>
                  <a:srgbClr val="64748B"/>
                </a:solidFill>
              </a:rPr>
              <a:t>Conference research domains
</a:t>
            </a:r>
          </a:p>
          <a:p>
            <a:pPr>
              <a:spcAft>
                <a:spcPts val="200"/>
              </a:spcAft>
            </a:pPr>
            <a:r>
              <a:rPr b="1" sz="1200">
                <a:solidFill>
                  <a:srgbClr val="1E293B"/>
                </a:solidFill>
              </a:rPr>
              <a:t>Topics
</a:t>
            </a:r>
            <a:r>
              <a:rPr sz="1000">
                <a:solidFill>
                  <a:srgbClr val="64748B"/>
                </a:solidFill>
              </a:rPr>
              <a:t>Keywords for paper matching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463040"/>
            <a:ext cx="2487168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1. STRUCTURE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93008" y="1463040"/>
            <a:ext cx="2487168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594360" wrap="square"/>
          <a:lstStyle/>
          <a:p>
            <a:pPr algn="ctr">
              <a:spcAft>
                <a:spcPts val="200"/>
              </a:spcAft>
            </a:pPr>
            <a:r>
              <a:rPr b="1" sz="1200">
                <a:solidFill>
                  <a:srgbClr val="1E293B"/>
                </a:solidFill>
              </a:rPr>
              <a:t>Authors
</a:t>
            </a:r>
            <a:r>
              <a:rPr sz="1000">
                <a:solidFill>
                  <a:srgbClr val="64748B"/>
                </a:solidFill>
              </a:rPr>
              <a:t>Researcher profile, ORCID
</a:t>
            </a:r>
          </a:p>
          <a:p>
            <a:pPr>
              <a:spcAft>
                <a:spcPts val="200"/>
              </a:spcAft>
            </a:pPr>
            <a:r>
              <a:rPr b="1" sz="1200">
                <a:solidFill>
                  <a:srgbClr val="1E293B"/>
                </a:solidFill>
              </a:rPr>
              <a:t>Papers
</a:t>
            </a:r>
            <a:r>
              <a:rPr sz="1000">
                <a:solidFill>
                  <a:srgbClr val="64748B"/>
                </a:solidFill>
              </a:rPr>
              <a:t>Master submission record
</a:t>
            </a:r>
          </a:p>
          <a:p>
            <a:pPr>
              <a:spcAft>
                <a:spcPts val="200"/>
              </a:spcAft>
            </a:pPr>
            <a:r>
              <a:rPr b="1" sz="1200">
                <a:solidFill>
                  <a:srgbClr val="1E293B"/>
                </a:solidFill>
              </a:rPr>
              <a:t>Versions
</a:t>
            </a:r>
            <a:r>
              <a:rPr sz="1000">
                <a:solidFill>
                  <a:srgbClr val="64748B"/>
                </a:solidFill>
              </a:rPr>
              <a:t>Drafts &amp; camera-ready PDFs
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3008" y="1463040"/>
            <a:ext cx="2487168" cy="45720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2. SUBMISSION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63056" y="1463040"/>
            <a:ext cx="2487168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594360" wrap="square"/>
          <a:lstStyle/>
          <a:p>
            <a:pPr algn="ctr">
              <a:spcAft>
                <a:spcPts val="200"/>
              </a:spcAft>
            </a:pPr>
            <a:r>
              <a:rPr b="1" sz="1200">
                <a:solidFill>
                  <a:srgbClr val="1E293B"/>
                </a:solidFill>
              </a:rPr>
              <a:t>Reviewers
</a:t>
            </a:r>
            <a:r>
              <a:rPr sz="1000">
                <a:solidFill>
                  <a:srgbClr val="64748B"/>
                </a:solidFill>
              </a:rPr>
              <a:t>Evaluator profile &amp; capacity
</a:t>
            </a:r>
          </a:p>
          <a:p>
            <a:pPr>
              <a:spcAft>
                <a:spcPts val="200"/>
              </a:spcAft>
            </a:pPr>
            <a:r>
              <a:rPr b="1" sz="1200">
                <a:solidFill>
                  <a:srgbClr val="1E293B"/>
                </a:solidFill>
              </a:rPr>
              <a:t>Expertise
</a:t>
            </a:r>
            <a:r>
              <a:rPr sz="1000">
                <a:solidFill>
                  <a:srgbClr val="64748B"/>
                </a:solidFill>
              </a:rPr>
              <a:t>Topic competence level
</a:t>
            </a:r>
          </a:p>
          <a:p>
            <a:pPr>
              <a:spcAft>
                <a:spcPts val="200"/>
              </a:spcAft>
            </a:pPr>
            <a:r>
              <a:rPr b="1" sz="1200">
                <a:solidFill>
                  <a:srgbClr val="1E293B"/>
                </a:solidFill>
              </a:rPr>
              <a:t>Conflicts
</a:t>
            </a:r>
            <a:r>
              <a:rPr sz="1000">
                <a:solidFill>
                  <a:srgbClr val="64748B"/>
                </a:solidFill>
              </a:rPr>
              <a:t>COI declaration records
</a:t>
            </a:r>
          </a:p>
          <a:p>
            <a:pPr>
              <a:spcAft>
                <a:spcPts val="200"/>
              </a:spcAft>
            </a:pPr>
            <a:r>
              <a:rPr b="1" sz="1200">
                <a:solidFill>
                  <a:srgbClr val="1E293B"/>
                </a:solidFill>
              </a:rPr>
              <a:t>Assignments
</a:t>
            </a:r>
            <a:r>
              <a:rPr sz="1000">
                <a:solidFill>
                  <a:srgbClr val="64748B"/>
                </a:solidFill>
              </a:rPr>
              <a:t>Paper-to-reviewer link
</a:t>
            </a:r>
          </a:p>
          <a:p>
            <a:pPr>
              <a:spcAft>
                <a:spcPts val="200"/>
              </a:spcAft>
            </a:pPr>
            <a:r>
              <a:rPr b="1" sz="1200">
                <a:solidFill>
                  <a:srgbClr val="1E293B"/>
                </a:solidFill>
              </a:rPr>
              <a:t>Reviews
</a:t>
            </a:r>
            <a:r>
              <a:rPr sz="1000">
                <a:solidFill>
                  <a:srgbClr val="64748B"/>
                </a:solidFill>
              </a:rPr>
              <a:t>1-10 scores &amp; feedback
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6" y="1463040"/>
            <a:ext cx="2487168" cy="457200"/>
          </a:xfrm>
          <a:prstGeom prst="round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3. REVIEW ENGINE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33104" y="1463040"/>
            <a:ext cx="2487168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594360" wrap="square"/>
          <a:lstStyle/>
          <a:p>
            <a:pPr algn="ctr">
              <a:spcAft>
                <a:spcPts val="200"/>
              </a:spcAft>
            </a:pPr>
            <a:r>
              <a:rPr b="1" sz="1200">
                <a:solidFill>
                  <a:srgbClr val="1E293B"/>
                </a:solidFill>
              </a:rPr>
              <a:t>Decisions
</a:t>
            </a:r>
            <a:r>
              <a:rPr sz="1000">
                <a:solidFill>
                  <a:srgbClr val="64748B"/>
                </a:solidFill>
              </a:rPr>
              <a:t>Official Accept/Reject log
</a:t>
            </a:r>
          </a:p>
          <a:p>
            <a:pPr>
              <a:spcAft>
                <a:spcPts val="200"/>
              </a:spcAft>
            </a:pPr>
            <a:r>
              <a:rPr b="1" sz="1200">
                <a:solidFill>
                  <a:srgbClr val="1E293B"/>
                </a:solidFill>
              </a:rPr>
              <a:t>Registrations
</a:t>
            </a:r>
            <a:r>
              <a:rPr sz="1000">
                <a:solidFill>
                  <a:srgbClr val="64748B"/>
                </a:solidFill>
              </a:rPr>
              <a:t>Author fee &amp; clearance
</a:t>
            </a:r>
          </a:p>
          <a:p>
            <a:pPr>
              <a:spcAft>
                <a:spcPts val="200"/>
              </a:spcAft>
            </a:pPr>
            <a:r>
              <a:rPr b="1" sz="1200">
                <a:solidFill>
                  <a:srgbClr val="1E293B"/>
                </a:solidFill>
              </a:rPr>
              <a:t>Presentation_Slots
</a:t>
            </a:r>
            <a:r>
              <a:rPr sz="1000">
                <a:solidFill>
                  <a:srgbClr val="64748B"/>
                </a:solidFill>
              </a:rPr>
              <a:t>Hall &amp; session time slot
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33104" y="1463040"/>
            <a:ext cx="2487168" cy="457200"/>
          </a:xfrm>
          <a:prstGeom prst="roundRect">
            <a:avLst/>
          </a:prstGeom>
          <a:solidFill>
            <a:srgbClr val="158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91440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4. SCHEDULING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943600"/>
            <a:ext cx="10515600" cy="384048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54864"/>
          <a:lstStyle/>
          <a:p>
            <a:pPr algn="ctr">
              <a:defRPr sz="1100" b="1">
                <a:solidFill>
                  <a:srgbClr val="1E3A8A"/>
                </a:solidFill>
                <a:latin typeface="Calibri"/>
              </a:defRPr>
            </a:pPr>
            <a:r>
              <a:t>✔ Plus supporting entities: Users (central accounts) and Paper_Authors (multi-author bridge).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6012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Calibri"/>
              </a:defRPr>
            </a:pPr>
            <a:r>
              <a:t>Conceptual Entity-Relationship (ER) Diagram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20116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Academic Conference DBMS  •  Review 1 (Week 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188720"/>
            <a:ext cx="10545775" cy="5166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234440"/>
            <a:ext cx="10454335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6012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Calibri"/>
              </a:defRPr>
            </a:pPr>
            <a:r>
              <a:t>Initial Relational Schema: Tables &amp; Keys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20116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8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Academic Conference DBMS  •  Review 1 (Week 7)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822960" y="1371600"/>
          <a:ext cx="105156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2377440"/>
                <a:gridCol w="4480560"/>
              </a:tblGrid>
              <a:tr h="339634">
                <a:tc>
                  <a:txBody>
                    <a:bodyPr lIns="109728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Table Name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Primary Key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Foreign Keys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Constraints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339634">
                <a:tc>
                  <a:txBody>
                    <a:bodyPr lIns="109728"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Conferences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conference_id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UNIQUE(acronym, year), end_date &gt;= start_date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lIns="109728"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Tracks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track_id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conference_id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UNIQUE(conference_id, track_name)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9634">
                <a:tc>
                  <a:txBody>
                    <a:bodyPr lIns="109728"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Topics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topic_id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track_id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UNIQUE(track_id, topic_name)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lIns="109728"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Users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user_id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UNIQUE(email), role IN ('CHAIR','AUTHOR','REVIEWER')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9634">
                <a:tc>
                  <a:txBody>
                    <a:bodyPr lIns="109728"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Authors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author_id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user_id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1:1 with Users; stores ORCID &amp; bio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lIns="109728"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Papers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paper_id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track_id, primary_author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status IN ('SUBMITTED','UNDER_REVIEW','ACCEPTED','REJECTED')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9634">
                <a:tc>
                  <a:txBody>
                    <a:bodyPr lIns="109728"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Paper_Versions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version_id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paper_id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UNIQUE(paper_id, version_num), version_num &gt;=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lIns="109728"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Reviewers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reviewer_id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user_id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1:1 with Users; max_workload &gt; 0 (DEFAULT 5)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9634">
                <a:tc>
                  <a:txBody>
                    <a:bodyPr lIns="109728"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Reviewer_Conflicts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conflict_id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reviewer_id, author_id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UNIQUE(reviewer_id, author_id); blocks COI assignments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lIns="109728"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Paper_Assignments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assignment_id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paper_id, reviewer_id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UNIQUE(paper_id, reviewer_id), status IN ('ASSIGNED','COMPLETED')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9634">
                <a:tc>
                  <a:txBody>
                    <a:bodyPr lIns="109728"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Reviews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review_id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assignment_id (UNIQUE)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CHECK scores BETWEEN 1 AND 10 for all 3 criteria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 lIns="109728"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Decisions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decision_id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paper_id (UNIQUE)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decision_type IN ('ACCEPT','REJECT','REVISE')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9638">
                <a:tc>
                  <a:txBody>
                    <a:bodyPr lIns="109728"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Presentation_Slots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B91C1C"/>
                          </a:solidFill>
                          <a:latin typeface="Calibri"/>
                        </a:defRPr>
                      </a:pPr>
                      <a:r>
                        <a:t>slot_id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session_id, paper_id (UK)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  <a:latin typeface="Calibri"/>
                        </a:defRPr>
                      </a:pPr>
                      <a:r>
                        <a:t>CHECK(end_time &gt; start_time), no room or author overlaps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6012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Calibri"/>
              </a:defRPr>
            </a:pPr>
            <a:r>
              <a:t>Normalization (1NF → 3NF) &amp; Business Rules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20116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Academic Conference DBMS  •  Review 1 (Week 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6304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  <a:latin typeface="Calibri"/>
              </a:defRPr>
            </a:pPr>
            <a:r>
              <a:t>NORMALIZATION STRATEGY</a:t>
            </a:r>
          </a:p>
          <a:p>
            <a:pPr>
              <a:spcAft>
                <a:spcPts val="200"/>
              </a:spcAft>
              <a:defRPr b="1" sz="1300">
                <a:solidFill>
                  <a:srgbClr val="2563EB"/>
                </a:solidFill>
              </a:defRPr>
            </a:pPr>
            <a:r>
              <a:t>✔ First Normal Form (1NF)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</a:defRPr>
            </a:pPr>
            <a:r>
              <a:t>All attributes are atomic scalar values.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</a:defRPr>
            </a:pPr>
            <a:r>
              <a:t>• Co-authors split into Paper_Authors table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• Multi-version files split into Paper_Versions</a:t>
            </a:r>
          </a:p>
          <a:p>
            <a:pPr>
              <a:spcAft>
                <a:spcPts val="200"/>
              </a:spcAft>
              <a:defRPr b="1" sz="1300">
                <a:solidFill>
                  <a:srgbClr val="2563EB"/>
                </a:solidFill>
              </a:defRPr>
            </a:pPr>
            <a:r>
              <a:t>✔ Second Normal Form (2NF)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</a:defRPr>
            </a:pPr>
            <a:r>
              <a:t>No partial functional dependencies on composite PK.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</a:defRPr>
            </a:pPr>
            <a:r>
              <a:t>• In Paper_Authors(paper_id, author_id), order depends on both keys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• Author bio moved to Authors table</a:t>
            </a:r>
          </a:p>
          <a:p>
            <a:pPr>
              <a:spcAft>
                <a:spcPts val="200"/>
              </a:spcAft>
              <a:defRPr b="1" sz="1300">
                <a:solidFill>
                  <a:srgbClr val="2563EB"/>
                </a:solidFill>
              </a:defRPr>
            </a:pPr>
            <a:r>
              <a:t>✔ Third Normal Form (3NF)</a:t>
            </a:r>
          </a:p>
          <a:p>
            <a:pPr>
              <a:spcAft>
                <a:spcPts val="200"/>
              </a:spcAft>
              <a:defRPr sz="1100">
                <a:solidFill>
                  <a:srgbClr val="1E293B"/>
                </a:solidFill>
              </a:defRPr>
            </a:pPr>
            <a:r>
              <a:t>No transitive functional dependencies.</a:t>
            </a:r>
          </a:p>
          <a:p>
            <a:pPr>
              <a:spcAft>
                <a:spcPts val="200"/>
              </a:spcAft>
              <a:defRPr sz="1000">
                <a:solidFill>
                  <a:srgbClr val="64748B"/>
                </a:solidFill>
              </a:defRPr>
            </a:pPr>
            <a:r>
              <a:t>• Track names decoupled from Papers (stored in Tracks)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• User details centralized in Users 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28600"/>
          <a:lstStyle/>
          <a:p>
            <a:pPr algn="ctr">
              <a:spcAft>
                <a:spcPts val="1200"/>
              </a:spcAft>
              <a:defRPr sz="1600" b="1">
                <a:solidFill>
                  <a:srgbClr val="15803D"/>
                </a:solidFill>
                <a:latin typeface="Calibri"/>
              </a:defRPr>
            </a:pPr>
            <a:r>
              <a:t>5 ENFORCED BUSINESS RULES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5803D"/>
                </a:solidFill>
              </a:rPr>
              <a:t>✔ 1. Unique Submission ID
</a:t>
            </a:r>
            <a:r>
              <a:rPr sz="1150">
                <a:solidFill>
                  <a:srgbClr val="1E293B"/>
                </a:solidFill>
              </a:rPr>
              <a:t>   Every paper receives an auto-increment PK.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5803D"/>
                </a:solidFill>
              </a:rPr>
              <a:t>✔ 2. Strict Conflict Barring
</a:t>
            </a:r>
            <a:r>
              <a:rPr sz="1150">
                <a:solidFill>
                  <a:srgbClr val="1E293B"/>
                </a:solidFill>
              </a:rPr>
              <a:t>   Reviewers cannot evaluate collaborator papers.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5803D"/>
                </a:solidFill>
              </a:rPr>
              <a:t>✔ 3. Minimum Review Quota
</a:t>
            </a:r>
            <a:r>
              <a:rPr sz="1150">
                <a:solidFill>
                  <a:srgbClr val="1E293B"/>
                </a:solidFill>
              </a:rPr>
              <a:t>   ≥ 3 completed reviews required before decision.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5803D"/>
                </a:solidFill>
              </a:rPr>
              <a:t>✔ 4. Standardized Scores
</a:t>
            </a:r>
            <a:r>
              <a:rPr sz="1150">
                <a:solidFill>
                  <a:srgbClr val="1E293B"/>
                </a:solidFill>
              </a:rPr>
              <a:t>   CHECK (score BETWEEN 1 AND 10).</a:t>
            </a:r>
          </a:p>
          <a:p>
            <a:pPr>
              <a:spcAft>
                <a:spcPts val="600"/>
              </a:spcAft>
            </a:pPr>
            <a:r>
              <a:rPr b="1" sz="1250">
                <a:solidFill>
                  <a:srgbClr val="15803D"/>
                </a:solidFill>
              </a:rPr>
              <a:t>✔ 5. No Schedule Overlap
</a:t>
            </a:r>
            <a:r>
              <a:rPr sz="1150">
                <a:solidFill>
                  <a:srgbClr val="1E293B"/>
                </a:solidFill>
              </a:rPr>
              <a:t>   Authors cannot present in two rooms at once.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11480"/>
            <a:ext cx="9601200" cy="685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Calibri"/>
              </a:defRPr>
            </a:pPr>
            <a:r>
              <a:t>Summary &amp; Evaluator Discussion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51560"/>
            <a:ext cx="201168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64748B"/>
                </a:solidFill>
                <a:latin typeface="Calibri"/>
              </a:defRPr>
            </a:pPr>
            <a: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  <a:latin typeface="Calibri"/>
              </a:defRPr>
            </a:pPr>
            <a:r>
              <a:t>Academic Conference DBMS  •  Review 1 (Week 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1645920"/>
            <a:ext cx="96012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tIns="274320"/>
          <a:lstStyle/>
          <a:p>
            <a:pPr algn="ctr">
              <a:spcAft>
                <a:spcPts val="1200"/>
              </a:spcAft>
              <a:defRPr sz="1600" b="1">
                <a:solidFill>
                  <a:srgbClr val="1E3A8A"/>
                </a:solidFill>
                <a:latin typeface="Calibri"/>
              </a:defRPr>
            </a:pPr>
            <a:r>
              <a:t>REVIEW 1 DELIVERABLES COMPLETED</a:t>
            </a:r>
          </a:p>
          <a:p>
            <a:pPr>
              <a:spcAft>
                <a:spcPts val="800"/>
              </a:spcAft>
            </a:pPr>
            <a:r>
              <a:rPr b="1" sz="1350">
                <a:solidFill>
                  <a:srgbClr val="15803D"/>
                </a:solidFill>
              </a:rPr>
              <a:t>✔  Deliverable 1: </a:t>
            </a:r>
            <a:r>
              <a:rPr sz="1300">
                <a:solidFill>
                  <a:srgbClr val="1E293B"/>
                </a:solidFill>
              </a:rPr>
              <a:t>Problem identification, scope, SMART objectives, 6 user roles, functional requirements.</a:t>
            </a:r>
          </a:p>
          <a:p>
            <a:pPr>
              <a:spcAft>
                <a:spcPts val="800"/>
              </a:spcAft>
            </a:pPr>
            <a:r>
              <a:rPr b="1" sz="1350">
                <a:solidFill>
                  <a:srgbClr val="15803D"/>
                </a:solidFill>
              </a:rPr>
              <a:t>✔  Deliverable 2: </a:t>
            </a:r>
            <a:r>
              <a:rPr sz="1300">
                <a:solidFill>
                  <a:srgbClr val="1E293B"/>
                </a:solidFill>
              </a:rPr>
              <a:t>Conceptual design &amp; ER diagram covering all 14 principal entities + relationships.</a:t>
            </a:r>
          </a:p>
          <a:p>
            <a:pPr>
              <a:spcAft>
                <a:spcPts val="800"/>
              </a:spcAft>
            </a:pPr>
            <a:r>
              <a:rPr b="1" sz="1350">
                <a:solidFill>
                  <a:srgbClr val="15803D"/>
                </a:solidFill>
              </a:rPr>
              <a:t>✔  Deliverable 3: </a:t>
            </a:r>
            <a:r>
              <a:rPr sz="1300">
                <a:solidFill>
                  <a:srgbClr val="1E293B"/>
                </a:solidFill>
              </a:rPr>
              <a:t>Initial 3NF relational schema, primary/foreign keys, domain CHECK constraints &amp; business rules.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4846320"/>
            <a:ext cx="9601200" cy="1097280"/>
          </a:xfrm>
          <a:prstGeom prst="roundRect">
            <a:avLst/>
          </a:prstGeom>
          <a:solidFill>
            <a:srgbClr val="EFF6FF"/>
          </a:solidFill>
          <a:ln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/>
          <a:lstStyle/>
          <a:p>
            <a:pPr algn="ctr">
              <a:spcAft>
                <a:spcPts val="400"/>
              </a:spcAft>
              <a:defRPr sz="2400" b="1">
                <a:solidFill>
                  <a:srgbClr val="1E3A8A"/>
                </a:solidFill>
                <a:latin typeface="Calibri"/>
              </a:defRPr>
            </a:pPr>
            <a:r>
              <a:t>Thank You!</a:t>
            </a:r>
          </a:p>
          <a:p>
            <a:pPr algn="ctr">
              <a:defRPr sz="1300">
                <a:solidFill>
                  <a:srgbClr val="64748B"/>
                </a:solidFill>
                <a:latin typeface="Calibri"/>
              </a:defRPr>
            </a:pPr>
            <a:r>
              <a:t>We are ready for questions and suggestions from the evaluators.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