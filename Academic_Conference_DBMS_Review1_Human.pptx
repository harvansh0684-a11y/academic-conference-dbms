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BB5B4-0B33-47B5-BD5C-2204E6D359EC}" v="6" dt="2026-09-10T10:08:21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vansh mehar" userId="d2cf1335802ca8c2" providerId="LiveId" clId="{EE381D8F-583E-48C3-941F-DA3693783F5A}"/>
    <pc:docChg chg="undo redo custSel addSld delSld modSld sldOrd">
      <pc:chgData name="harvansh mehar" userId="d2cf1335802ca8c2" providerId="LiveId" clId="{EE381D8F-583E-48C3-941F-DA3693783F5A}" dt="2026-09-10T11:26:03.695" v="98" actId="2696"/>
      <pc:docMkLst>
        <pc:docMk/>
      </pc:docMkLst>
      <pc:sldChg chg="modSp mod">
        <pc:chgData name="harvansh mehar" userId="d2cf1335802ca8c2" providerId="LiveId" clId="{EE381D8F-583E-48C3-941F-DA3693783F5A}" dt="2026-09-10T07:23:38.690" v="43" actId="20577"/>
        <pc:sldMkLst>
          <pc:docMk/>
          <pc:sldMk cId="0" sldId="256"/>
        </pc:sldMkLst>
        <pc:spChg chg="mod">
          <ac:chgData name="harvansh mehar" userId="d2cf1335802ca8c2" providerId="LiveId" clId="{EE381D8F-583E-48C3-941F-DA3693783F5A}" dt="2026-09-10T07:23:38.690" v="43" actId="20577"/>
          <ac:spMkLst>
            <pc:docMk/>
            <pc:sldMk cId="0" sldId="256"/>
            <ac:spMk id="5" creationId="{00000000-0000-0000-0000-000000000000}"/>
          </ac:spMkLst>
        </pc:spChg>
      </pc:sldChg>
      <pc:sldChg chg="ord">
        <pc:chgData name="harvansh mehar" userId="d2cf1335802ca8c2" providerId="LiveId" clId="{EE381D8F-583E-48C3-941F-DA3693783F5A}" dt="2026-09-10T09:41:04.934" v="60"/>
        <pc:sldMkLst>
          <pc:docMk/>
          <pc:sldMk cId="0" sldId="257"/>
        </pc:sldMkLst>
      </pc:sldChg>
      <pc:sldChg chg="delSp modSp mod">
        <pc:chgData name="harvansh mehar" userId="d2cf1335802ca8c2" providerId="LiveId" clId="{EE381D8F-583E-48C3-941F-DA3693783F5A}" dt="2026-09-10T09:48:09.419" v="66" actId="1036"/>
        <pc:sldMkLst>
          <pc:docMk/>
          <pc:sldMk cId="0" sldId="258"/>
        </pc:sldMkLst>
        <pc:spChg chg="mod">
          <ac:chgData name="harvansh mehar" userId="d2cf1335802ca8c2" providerId="LiveId" clId="{EE381D8F-583E-48C3-941F-DA3693783F5A}" dt="2026-09-10T09:48:09.419" v="66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harvansh mehar" userId="d2cf1335802ca8c2" providerId="LiveId" clId="{EE381D8F-583E-48C3-941F-DA3693783F5A}" dt="2026-09-10T09:48:02.050" v="65" actId="1036"/>
          <ac:spMkLst>
            <pc:docMk/>
            <pc:sldMk cId="0" sldId="258"/>
            <ac:spMk id="7" creationId="{00000000-0000-0000-0000-000000000000}"/>
          </ac:spMkLst>
        </pc:spChg>
        <pc:spChg chg="del">
          <ac:chgData name="harvansh mehar" userId="d2cf1335802ca8c2" providerId="LiveId" clId="{EE381D8F-583E-48C3-941F-DA3693783F5A}" dt="2026-09-10T09:47:20.232" v="61" actId="21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harvansh mehar" userId="d2cf1335802ca8c2" providerId="LiveId" clId="{EE381D8F-583E-48C3-941F-DA3693783F5A}" dt="2026-09-10T09:57:30.767" v="71" actId="1035"/>
        <pc:sldMkLst>
          <pc:docMk/>
          <pc:sldMk cId="0" sldId="259"/>
        </pc:sldMkLst>
        <pc:spChg chg="mod">
          <ac:chgData name="harvansh mehar" userId="d2cf1335802ca8c2" providerId="LiveId" clId="{EE381D8F-583E-48C3-941F-DA3693783F5A}" dt="2026-09-10T09:57:30.767" v="71" actId="1035"/>
          <ac:spMkLst>
            <pc:docMk/>
            <pc:sldMk cId="0" sldId="259"/>
            <ac:spMk id="2" creationId="{00000000-0000-0000-0000-000000000000}"/>
          </ac:spMkLst>
        </pc:spChg>
      </pc:sldChg>
      <pc:sldChg chg="del">
        <pc:chgData name="harvansh mehar" userId="d2cf1335802ca8c2" providerId="LiveId" clId="{EE381D8F-583E-48C3-941F-DA3693783F5A}" dt="2026-09-10T10:05:46.601" v="74" actId="2696"/>
        <pc:sldMkLst>
          <pc:docMk/>
          <pc:sldMk cId="0" sldId="260"/>
        </pc:sldMkLst>
      </pc:sldChg>
      <pc:sldChg chg="add del">
        <pc:chgData name="harvansh mehar" userId="d2cf1335802ca8c2" providerId="LiveId" clId="{EE381D8F-583E-48C3-941F-DA3693783F5A}" dt="2026-09-10T11:26:03.695" v="98" actId="2696"/>
        <pc:sldMkLst>
          <pc:docMk/>
          <pc:sldMk cId="0" sldId="261"/>
        </pc:sldMkLst>
      </pc:sldChg>
      <pc:sldChg chg="addSp delSp modSp mod">
        <pc:chgData name="harvansh mehar" userId="d2cf1335802ca8c2" providerId="LiveId" clId="{EE381D8F-583E-48C3-941F-DA3693783F5A}" dt="2026-09-10T11:25:55.830" v="96" actId="1076"/>
        <pc:sldMkLst>
          <pc:docMk/>
          <pc:sldMk cId="0" sldId="262"/>
        </pc:sldMkLst>
        <pc:spChg chg="mod">
          <ac:chgData name="harvansh mehar" userId="d2cf1335802ca8c2" providerId="LiveId" clId="{EE381D8F-583E-48C3-941F-DA3693783F5A}" dt="2026-09-10T10:07:47.457" v="82" actId="107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harvansh mehar" userId="d2cf1335802ca8c2" providerId="LiveId" clId="{EE381D8F-583E-48C3-941F-DA3693783F5A}" dt="2026-09-10T10:08:21.596" v="94" actId="767"/>
          <ac:spMkLst>
            <pc:docMk/>
            <pc:sldMk cId="0" sldId="262"/>
            <ac:spMk id="9" creationId="{434C412F-A74F-4D41-6A04-5DE8CC76CEC7}"/>
          </ac:spMkLst>
        </pc:spChg>
        <pc:picChg chg="mod">
          <ac:chgData name="harvansh mehar" userId="d2cf1335802ca8c2" providerId="LiveId" clId="{EE381D8F-583E-48C3-941F-DA3693783F5A}" dt="2026-09-10T11:25:55.830" v="96" actId="1076"/>
          <ac:picMkLst>
            <pc:docMk/>
            <pc:sldMk cId="0" sldId="262"/>
            <ac:picMk id="8" creationId="{00000000-0000-0000-0000-000000000000}"/>
          </ac:picMkLst>
        </pc:picChg>
        <pc:picChg chg="add mod">
          <ac:chgData name="harvansh mehar" userId="d2cf1335802ca8c2" providerId="LiveId" clId="{EE381D8F-583E-48C3-941F-DA3693783F5A}" dt="2026-09-10T10:08:12.115" v="87" actId="571"/>
          <ac:picMkLst>
            <pc:docMk/>
            <pc:sldMk cId="0" sldId="262"/>
            <ac:picMk id="10" creationId="{1856C1B5-FF50-359F-AA70-C8914CD79270}"/>
          </ac:picMkLst>
        </pc:picChg>
      </pc:sldChg>
      <pc:sldChg chg="delSp modSp mod">
        <pc:chgData name="harvansh mehar" userId="d2cf1335802ca8c2" providerId="LiveId" clId="{EE381D8F-583E-48C3-941F-DA3693783F5A}" dt="2026-09-10T09:22:04.330" v="58"/>
        <pc:sldMkLst>
          <pc:docMk/>
          <pc:sldMk cId="0" sldId="265"/>
        </pc:sldMkLst>
        <pc:spChg chg="mod">
          <ac:chgData name="harvansh mehar" userId="d2cf1335802ca8c2" providerId="LiveId" clId="{EE381D8F-583E-48C3-941F-DA3693783F5A}" dt="2026-09-10T09:21:18.877" v="45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harvansh mehar" userId="d2cf1335802ca8c2" providerId="LiveId" clId="{EE381D8F-583E-48C3-941F-DA3693783F5A}" dt="2026-09-10T09:21:30.208" v="46" actId="21"/>
          <ac:spMkLst>
            <pc:docMk/>
            <pc:sldMk cId="0" sldId="265"/>
            <ac:spMk id="3" creationId="{00000000-0000-0000-0000-000000000000}"/>
          </ac:spMkLst>
        </pc:spChg>
        <pc:spChg chg="del">
          <ac:chgData name="harvansh mehar" userId="d2cf1335802ca8c2" providerId="LiveId" clId="{EE381D8F-583E-48C3-941F-DA3693783F5A}" dt="2026-09-10T09:21:38.547" v="47" actId="21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harvansh mehar" userId="d2cf1335802ca8c2" providerId="LiveId" clId="{EE381D8F-583E-48C3-941F-DA3693783F5A}" dt="2026-09-10T09:22:04.330" v="58"/>
          <ac:spMkLst>
            <pc:docMk/>
            <pc:sldMk cId="0" sldId="265"/>
            <ac:spMk id="5" creationId="{00000000-0000-0000-0000-000000000000}"/>
          </ac:spMkLst>
        </pc:spChg>
        <pc:spChg chg="del">
          <ac:chgData name="harvansh mehar" userId="d2cf1335802ca8c2" providerId="LiveId" clId="{EE381D8F-583E-48C3-941F-DA3693783F5A}" dt="2026-09-10T09:21:43.915" v="48" actId="21"/>
          <ac:spMkLst>
            <pc:docMk/>
            <pc:sldMk cId="0" sldId="265"/>
            <ac:spMk id="7" creationId="{00000000-0000-0000-0000-000000000000}"/>
          </ac:spMkLst>
        </pc:spChg>
        <pc:spChg chg="mod">
          <ac:chgData name="harvansh mehar" userId="d2cf1335802ca8c2" providerId="LiveId" clId="{EE381D8F-583E-48C3-941F-DA3693783F5A}" dt="2026-09-10T09:21:50.047" v="49" actId="14100"/>
          <ac:spMkLst>
            <pc:docMk/>
            <pc:sldMk cId="0" sldId="265"/>
            <ac:spMk id="8" creationId="{00000000-0000-0000-0000-000000000000}"/>
          </ac:spMkLst>
        </pc:spChg>
      </pc:sldChg>
      <pc:sldChg chg="new del">
        <pc:chgData name="harvansh mehar" userId="d2cf1335802ca8c2" providerId="LiveId" clId="{EE381D8F-583E-48C3-941F-DA3693783F5A}" dt="2026-09-10T10:05:33.984" v="73" actId="680"/>
        <pc:sldMkLst>
          <pc:docMk/>
          <pc:sldMk cId="989828144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MANAGEMENT SYSTEMS  |  CS304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Academic Conference Paper Submission</a:t>
            </a:r>
            <a:br/>
            <a:r>
              <a:t>&amp; Review System DBMS</a:t>
            </a:r>
          </a:p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Review 1 (Week 7): Scope, Conceptual ER Design &amp; Relational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9326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1E3A8A"/>
                </a:solidFill>
                <a:latin typeface="Calibri"/>
              </a:defRPr>
            </a:pPr>
            <a:r>
              <a:rPr dirty="0"/>
              <a:t>PROJECT METADATA &amp; TEAM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rPr dirty="0"/>
              <a:t>• Presenter </a:t>
            </a:r>
            <a:r>
              <a:rPr lang="en-US" dirty="0"/>
              <a:t>: Harvansh Mehar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Roll </a:t>
            </a:r>
            <a:r>
              <a:rPr dirty="0"/>
              <a:t>No</a:t>
            </a:r>
            <a:r>
              <a:t>: </a:t>
            </a:r>
            <a:r>
              <a:rPr lang="en-US"/>
              <a:t>25WU0102096</a:t>
            </a:r>
            <a:endParaRPr dirty="0"/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rPr dirty="0"/>
              <a:t>• Target Database: PostgreSQL / MySQL  |  Evaluation Weightage: 5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Problem Statement: Why Email &amp; Spreadsheets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📁 Version Confusion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Authors email updated PDFs; reviewers evaluate old drafts.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Loss of camera-ready final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⚖ Conflict of Interest (COI)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Reviewers assigned papers written by close collaborators.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Ethical breach &amp; biased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⏳ Workload Imbalance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Some reviewers get 10 papers, others get none.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Missed deadlines &amp; missing 3-review quota.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📅 Schedule Collisions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Authors with multiple papers booked in two halls at once.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Overlapping presentation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>
              <a:defRPr sz="1150" b="1">
                <a:solidFill>
                  <a:srgbClr val="15803D"/>
                </a:solidFill>
                <a:latin typeface="Calibri"/>
              </a:defRPr>
            </a:pPr>
            <a:r>
              <a:t>✔ Solution: A 3NF relational database enforcing versioning, automated COI blocking, and slot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Project Scope &amp; Core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9991"/>
            <a:ext cx="7790098" cy="48453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7432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🎯 CORE OBJECTIVES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✔ 3NF Database Design: </a:t>
            </a:r>
            <a:r>
              <a:rPr sz="1200">
                <a:solidFill>
                  <a:srgbClr val="1E293B"/>
                </a:solidFill>
              </a:rPr>
              <a:t>Eliminate data redundancy &amp; anomalies.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✔ Double-Blind Peer Review: </a:t>
            </a:r>
            <a:r>
              <a:rPr sz="1200">
                <a:solidFill>
                  <a:srgbClr val="1E293B"/>
                </a:solidFill>
              </a:rPr>
              <a:t>Conceal author identity from reviewers.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✔ Automated COI Prevention: </a:t>
            </a:r>
            <a:r>
              <a:rPr sz="1200">
                <a:solidFill>
                  <a:srgbClr val="1E293B"/>
                </a:solidFill>
              </a:rPr>
              <a:t>Block biased reviewer assignments.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✔ Multi-Version Tracking: </a:t>
            </a:r>
            <a:r>
              <a:rPr sz="1200">
                <a:solidFill>
                  <a:srgbClr val="1E293B"/>
                </a:solidFill>
              </a:rPr>
              <a:t>Preserve initial drafts &amp; camera-ready PDFs.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✔ Conflict-Free Scheduling: </a:t>
            </a:r>
            <a:r>
              <a:rPr sz="1200">
                <a:solidFill>
                  <a:srgbClr val="1E293B"/>
                </a:solidFill>
              </a:rPr>
              <a:t>No author or hall presentation clashes.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System Workflow: From Submission to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400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Submission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 uploads paper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Co-authors assigned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Blinded PDF (V1)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99232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400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  <a:latin typeface="Calibri"/>
              </a:defRPr>
            </a:pPr>
            <a:r>
              <a:t>Reviewer Match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Topic expertise set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Conflicts declared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Zero-COI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645920"/>
            <a:ext cx="196596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0912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75504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400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Peer Review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≥ 3 Reviews/paper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Scores 1 to 10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Dual 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645920"/>
            <a:ext cx="196596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87184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51775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400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Decision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Chair records verdict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Accept / Reject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Camera-ready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645920"/>
            <a:ext cx="1965960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63455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528048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400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Scheduling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 registers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Hall &amp; slot assigned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No time overlaps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1645920"/>
            <a:ext cx="1965960" cy="5029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806440"/>
            <a:ext cx="1051560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1150" b="1">
                <a:solidFill>
                  <a:srgbClr val="1E3A8A"/>
                </a:solidFill>
                <a:latin typeface="Calibri"/>
              </a:defRPr>
            </a:pPr>
            <a:r>
              <a:t>⚡ Automated Progression: Each stage is strictly gated by database integrity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Conceptual Entity-Relationship (ER)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88720"/>
            <a:ext cx="10545775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4543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Initial Relational Schema: Tables &amp;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Constraints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UNIQUE(acronym, year), end_date &gt;= start_date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UNIQUE(conference_id, track_name)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topic_id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UNIQUE(track_id, topic_name)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UNIQUE(email), role IN ('CHAIR','AUTHOR','REVIEWER')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1:1 with Users; stores ORCID &amp;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track_id, primary_author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status IN ('SUBMITTED','UNDER_REVIEW','ACCEPTED','REJECTED')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Paper_Versions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version_id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UNIQUE(paper_id, version_num), version_num &gt;=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reviewer_id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1:1 with Users; max_workload &gt; 0 (DEFAULT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Reviewer_Conflicts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conflict_id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reviewer_id, 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UNIQUE(reviewer_id, author_id); blocks COI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Paper_Assignments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assignment_id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paper_id, reviewer_id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UNIQUE(paper_id, reviewer_id), status IN ('ASSIGNED','COMPLETED')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review_id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assignment_id (UNIQUE)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CHECK scores BETWEEN 1 AND 10 for all 3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decision_id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 (UNIQUE)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decision_type IN ('ACCEPT','REJECT','REVISE')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63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Presentation_Slots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slot_id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session_id, paper_id (UK)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CHECK(end_time &gt; start_time), no room or author overlaps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Normalization (1NF → 3NF) &amp; Business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NORMALIZATION STRATEGY</a:t>
            </a:r>
          </a:p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✔ First Normal Form (1NF)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All attributes are atomic scalar values.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Co-authors split into Paper_Authors table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Multi-version files split into Paper_Versions</a:t>
            </a:r>
          </a:p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✔ Second Normal Form (2NF)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No partial functional dependencies on composite PK.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In Paper_Authors(paper_id, author_id), order depends on both keys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Author bio moved to Authors table</a:t>
            </a:r>
          </a:p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✔ Third Normal Form (3NF)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No transitive functional dependencies.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Track names decoupled from Papers (stored in Tracks)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User details centralized in Users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2860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5 ENFORCED BUSINESS RULES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</a:rPr>
              <a:t>✔ 1. Unique Submission ID
</a:t>
            </a:r>
            <a:r>
              <a:rPr sz="1150">
                <a:solidFill>
                  <a:srgbClr val="1E293B"/>
                </a:solidFill>
              </a:rPr>
              <a:t>   Every paper receives an auto-increment PK.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</a:rPr>
              <a:t>✔ 2. Strict Conflict Barring
</a:t>
            </a:r>
            <a:r>
              <a:rPr sz="1150">
                <a:solidFill>
                  <a:srgbClr val="1E293B"/>
                </a:solidFill>
              </a:rPr>
              <a:t>   Reviewers cannot evaluate collaborator papers.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</a:rPr>
              <a:t>✔ 3. Minimum Review Quota
</a:t>
            </a:r>
            <a:r>
              <a:rPr sz="1150">
                <a:solidFill>
                  <a:srgbClr val="1E293B"/>
                </a:solidFill>
              </a:rPr>
              <a:t>   ≥ 3 completed reviews required before decision.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</a:rPr>
              <a:t>✔ 4. Standardized Scores
</a:t>
            </a:r>
            <a:r>
              <a:rPr sz="1150">
                <a:solidFill>
                  <a:srgbClr val="1E293B"/>
                </a:solidFill>
              </a:rPr>
              <a:t>   CHECK (score BETWEEN 1 AND 10).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5803D"/>
                </a:solidFill>
              </a:rPr>
              <a:t>✔ 5. No Schedule Overlap
</a:t>
            </a:r>
            <a:r>
              <a:rPr sz="1150">
                <a:solidFill>
                  <a:srgbClr val="1E293B"/>
                </a:solidFill>
              </a:rPr>
              <a:t>   Authors cannot present in two rooms at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639097"/>
            <a:ext cx="9601200" cy="5304503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spcAft>
                <a:spcPts val="400"/>
              </a:spcAft>
              <a:defRPr sz="2400" b="1">
                <a:solidFill>
                  <a:srgbClr val="1E3A8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300">
                <a:solidFill>
                  <a:srgbClr val="64748B"/>
                </a:solidFill>
                <a:latin typeface="Calibri"/>
              </a:defRPr>
            </a:pPr>
            <a:r>
              <a:t>We are ready for questions and suggestions from the evaluators.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924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harvansh mehar</cp:lastModifiedBy>
  <cp:revision>1</cp:revision>
  <dcterms:created xsi:type="dcterms:W3CDTF">2013-01-27T09:14:16Z</dcterms:created>
  <dcterms:modified xsi:type="dcterms:W3CDTF">2026-09-10T11:26:16Z</dcterms:modified>
  <cp:category/>
</cp:coreProperties>
</file>