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MANAGEMENT SYSTEMS  |  CS304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Academic Conference Paper Submission</a:t>
            </a:r>
            <a:br/>
            <a:r>
              <a:t>&amp; Review System DBMS</a:t>
            </a:r>
          </a:p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Review 2 (Week 10): Physical Implementation, Advanced SQL, Views &amp;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9326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E3A8A"/>
                </a:solidFill>
                <a:latin typeface="Calibri"/>
              </a:defRPr>
            </a:pPr>
            <a:r>
              <a:t>REVIEW 2 MILESTONE DETAILS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Presenter / Team: [Your Name / Team Members]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Register / Roll No: [Your Register Number]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Scope: 17 DDL Tables  •  50+ Rows Populated  •  7 Analytical Views  •  Indexes &amp; Triggers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Review 2 Objectives: From Design to Live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1. Schema Execution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All 17 normalized tables created with primary keys, foreign keys, and domain CHECK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6D28D9"/>
                </a:solidFill>
                <a:latin typeface="Calibri"/>
              </a:defRPr>
            </a:pPr>
            <a:r>
              <a:t>2. Realistic Population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50+ records populated across 4 tracks, simulating real academic submission &amp; peer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" cy="20574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3. Advanced SQL Queries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Multi-table joins, nested subqueries, aggregations (COUNT, AVG), and HAVING filters.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5803D"/>
                </a:solidFill>
                <a:latin typeface="Calibri"/>
              </a:defRPr>
            </a:pPr>
            <a:r>
              <a:t>4. 7 Analytical Views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Automated reports for reviewer workload, pending reviews, paper scores, and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109728" cy="20574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50" b="1">
                <a:solidFill>
                  <a:srgbClr val="1E3A8A"/>
                </a:solidFill>
                <a:latin typeface="Calibri"/>
              </a:defRPr>
            </a:pPr>
            <a:r>
              <a:t>⚡ Review 2 Milestone: 100% verified against live PostgreSQL, MySQL &amp; SQLite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Physical Schema Implementation &amp; Multi-Tier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17 IMPLEMENTED TABLES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2563EB"/>
                </a:solidFill>
              </a:rPr>
              <a:t>✔ Structure (3 Tables):
</a:t>
            </a:r>
            <a:r>
              <a:rPr sz="1150">
                <a:solidFill>
                  <a:srgbClr val="1E293B"/>
                </a:solidFill>
              </a:rPr>
              <a:t>   Conferences, Tracks, Topics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2563EB"/>
                </a:solidFill>
              </a:rPr>
              <a:t>✔ Submissions (5 Tables):
</a:t>
            </a:r>
            <a:r>
              <a:rPr sz="1150">
                <a:solidFill>
                  <a:srgbClr val="1E293B"/>
                </a:solidFill>
              </a:rPr>
              <a:t>   Users, Authors, Papers, Paper_Authors, Paper_Versions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2563EB"/>
                </a:solidFill>
              </a:rPr>
              <a:t>✔ Review Engine (5 Tables):
</a:t>
            </a:r>
            <a:r>
              <a:rPr sz="1150">
                <a:solidFill>
                  <a:srgbClr val="1E293B"/>
                </a:solidFill>
              </a:rPr>
              <a:t>   Reviewers, Reviewer_Expertise, Reviewer_Conflicts, Paper_Assignments, Reviews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2563EB"/>
                </a:solidFill>
              </a:rPr>
              <a:t>✔ Scheduling (4 Tables):
</a:t>
            </a:r>
            <a:r>
              <a:rPr sz="1150">
                <a:solidFill>
                  <a:srgbClr val="1E293B"/>
                </a:solidFill>
              </a:rPr>
              <a:t>   Decisions, Registrations, Sessions, Presentation_Slots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MULTI-TIER INTEGRITY CONSTRAINTS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Primary Keys:
</a:t>
            </a:r>
            <a:r>
              <a:rPr sz="1150">
                <a:solidFill>
                  <a:srgbClr val="1E293B"/>
                </a:solidFill>
              </a:rPr>
              <a:t>   Auto-increment IDs &amp; Composite keys in bridge tables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Foreign Keys:
</a:t>
            </a:r>
            <a:r>
              <a:rPr sz="1150">
                <a:solidFill>
                  <a:srgbClr val="1E293B"/>
                </a:solidFill>
              </a:rPr>
              <a:t>   ON DELETE CASCADE on versions; ON DELETE RESTRICT on decisions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UNIQUE Keys:
</a:t>
            </a:r>
            <a:r>
              <a:rPr sz="1150">
                <a:solidFill>
                  <a:srgbClr val="1E293B"/>
                </a:solidFill>
              </a:rPr>
              <a:t>   UNIQUE(paper_id, reviewer_id) prevents duplicate assignment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Domain CHECKs:
</a:t>
            </a:r>
            <a:r>
              <a:rPr sz="1150">
                <a:solidFill>
                  <a:srgbClr val="1E293B"/>
                </a:solidFill>
              </a:rPr>
              <a:t>   CHECK(score BETWEEN 1 AND 10); CHECK(end_time &gt; start_time)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1:1 Enforcements:
</a:t>
            </a:r>
            <a:r>
              <a:rPr sz="1150">
                <a:solidFill>
                  <a:srgbClr val="1E293B"/>
                </a:solidFill>
              </a:rPr>
              <a:t>   UNIQUE(paper_id) in Decisions &amp; Presentation_Slots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Realistic Sample Dataset &amp; Test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/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AI &amp; Machine Learning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Cloud &amp; Distributed Systems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Cybersecurity &amp; Privacy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Software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2487168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 Active Tracks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/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P1: LLM Quantization (Accepted)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P2: Graph Contrastive (Accepted)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P3: Consensus Ledgers (Accepted)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P4: ZK Rollups (Accepted)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P5: API Fuzzing (Rejected)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P6: Serverless Caching (Under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463040"/>
            <a:ext cx="2487168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 Multi-Author Papers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/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Workloads capped at 4-5 papers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Expertise in Consensus, AI, Crypto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Declared COI: Lamport-Hinton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Declared COI: Stonebraker-Ng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 conflicted assignments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63040"/>
            <a:ext cx="2487168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 Reviewers &amp; COI Pool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/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16 Submitted Reviews (Scores 1-10)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4 Accepted Papers Registered ($650)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 Thematic Sessions Scheduled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4 Conflict-Free Presentation Slots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463040"/>
            <a:ext cx="2487168" cy="4572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 Evaluation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943600"/>
            <a:ext cx="105156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✔ Realistic Data Integrity: Simulates high-scoring accepts (8.7–9.0), clear rejects (4.7), and active pending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Advanced SQL Queries: Multi-Table JOINs &amp; Aggregates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  <a:latin typeface="Calibri"/>
              </a:defRPr>
            </a:pPr>
            <a:r>
              <a:t>QUERY 1: 4-WAY JOIN (PAPER &amp; VERSIONS)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SELECT p.paper_id, p.title, t.track_name,</a:t>
            </a:r>
            <a:br/>
            <a:r>
              <a:t>       u.first_name || ' ' || u.last_name AS author,</a:t>
            </a:r>
            <a:br/>
            <a:r>
              <a:t>       COUNT(pv.version_id) AS versions_count</a:t>
            </a:r>
            <a:br/>
            <a:r>
              <a:t>FROM Papers p</a:t>
            </a:r>
            <a:br/>
            <a:r>
              <a:t>JOIN Tracks t ON p.track_id = t.track_id</a:t>
            </a:r>
            <a:br/>
            <a:r>
              <a:t>JOIN Authors a ON p.primary_author_id = a.author_id</a:t>
            </a:r>
            <a:br/>
            <a:r>
              <a:t>JOIN Users u ON a.user_id = u.user_id</a:t>
            </a:r>
            <a:br/>
            <a:r>
              <a:t>LEFT JOIN Paper_Versions pv ON p.paper_id = pv.paper_id</a:t>
            </a:r>
            <a:br/>
            <a:r>
              <a:t>GROUP BY p.paper_id;</a:t>
            </a:r>
          </a:p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RESULT OUTPUT: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P1: LLM Quantization | AI/ML | Hinton | 2 Versions</a:t>
            </a:r>
            <a:br/>
            <a:r>
              <a:t>P2: Graph Contrastive | AI/ML | LeCun | 2 Versions</a:t>
            </a:r>
            <a:br/>
            <a:r>
              <a:t>P3: Byzantine Consensus | Cloud | Bengio | 2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5803D"/>
                </a:solidFill>
                <a:latin typeface="Calibri"/>
              </a:defRPr>
            </a:pPr>
            <a:r>
              <a:t>QUERY 2: AGGREGATE SCORING &amp; HAVING</a:t>
            </a:r>
          </a:p>
          <a:p>
            <a:pPr>
              <a:spcAft>
                <a:spcPts val="800"/>
              </a:spcAft>
              <a:defRPr sz="950">
                <a:solidFill>
                  <a:srgbClr val="0F172A"/>
                </a:solidFill>
                <a:latin typeface="Consolas"/>
              </a:defRPr>
            </a:pPr>
            <a:r>
              <a:t>SELECT p.paper_id, p.title,</a:t>
            </a:r>
            <a:br/>
            <a:r>
              <a:t>       COUNT(r.review_id) AS num_reviews,</a:t>
            </a:r>
            <a:br/>
            <a:r>
              <a:t>       ROUND(AVG(r.overall_score), 2) AS avg_score,</a:t>
            </a:r>
            <a:br/>
            <a:r>
              <a:t>       ROUND(AVG(r.originality), 2) AS avg_orig</a:t>
            </a:r>
            <a:br/>
            <a:r>
              <a:t>FROM Papers p</a:t>
            </a:r>
            <a:br/>
            <a:r>
              <a:t>JOIN Paper_Assignments pa ON p.paper_id = pa.paper_id</a:t>
            </a:r>
            <a:br/>
            <a:r>
              <a:t>JOIN Reviews r ON pa.assignment_id = r.assignment_id</a:t>
            </a:r>
            <a:br/>
            <a:r>
              <a:t>GROUP BY p.paper_id</a:t>
            </a:r>
            <a:br/>
            <a:r>
              <a:t>HAVING AVG(r.overall_score) &gt;= 8.0</a:t>
            </a:r>
            <a:br/>
            <a:r>
              <a:t>ORDER BY avg_score DESC;</a:t>
            </a:r>
          </a:p>
          <a:p>
            <a:pPr>
              <a:spcAft>
                <a:spcPts val="200"/>
              </a:spcAft>
              <a:defRPr sz="1100" b="1">
                <a:solidFill>
                  <a:srgbClr val="15803D"/>
                </a:solidFill>
                <a:latin typeface="Calibri"/>
              </a:defRPr>
            </a:pPr>
            <a:r>
              <a:t>RESULT OUTPUT (QUALIFIED FOR ACCEPTANCE):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P1: Avg Score 8.67 | 3 Reviews (Originality 8.67)</a:t>
            </a:r>
            <a:br/>
            <a:r>
              <a:t>P4: Avg Score 8.67 | 3 Reviews (Originality 8.67)</a:t>
            </a:r>
            <a:br/>
            <a:r>
              <a:t>P3: Avg Score 8.33 | 3 Reviews (Originality 8.67)</a:t>
            </a:r>
            <a:br/>
            <a:r>
              <a:t>P2: Avg Score 8.33 | 3 Reviews (Originality 8.00)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Advanced SQL Queries: Subqueries &amp; Complex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6D28D9"/>
                </a:solidFill>
                <a:latin typeface="Calibri"/>
              </a:defRPr>
            </a:pPr>
            <a:r>
              <a:t>QUERY 3: CORRELATED SUBQUERY (NOT EXISTS)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onsolas"/>
              </a:defRPr>
            </a:pPr>
            <a:r>
              <a:t>-- Find papers pending reviews that cannot be decided</a:t>
            </a:r>
            <a:br/>
            <a:r>
              <a:t>SELECT p.paper_id, p.title, t.track_name</a:t>
            </a:r>
            <a:br/>
            <a:r>
              <a:t>FROM Papers p</a:t>
            </a:r>
            <a:br/>
            <a:r>
              <a:t>JOIN Tracks t ON p.track_id = t.track_id</a:t>
            </a:r>
            <a:br/>
            <a:r>
              <a:t>WHERE p.status = 'UNDER_REVIEW'</a:t>
            </a:r>
            <a:br/>
            <a:r>
              <a:t>  AND NOT EXISTS (</a:t>
            </a:r>
            <a:br/>
            <a:r>
              <a:t>      SELECT 1 FROM Decisions d </a:t>
            </a:r>
            <a:br/>
            <a:r>
              <a:t>      WHERE d.paper_id = p.paper_id</a:t>
            </a:r>
            <a:br/>
            <a:r>
              <a:t>  );</a:t>
            </a:r>
          </a:p>
          <a:p>
            <a:pPr>
              <a:spcAft>
                <a:spcPts val="20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BUSINESS SIGNIFICANCE &amp; RESULT: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Identifies Paper 6 ('Adaptive Autoscaling in Serverless Compute Clouds') which has only 1 of 3 reviews completed. Prevents premature decision 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QUERY 4: TOP-RATED PAPER PER TRACK</a:t>
            </a:r>
          </a:p>
          <a:p>
            <a:pPr>
              <a:spcAft>
                <a:spcPts val="600"/>
              </a:spcAft>
              <a:defRPr sz="850">
                <a:solidFill>
                  <a:srgbClr val="0F172A"/>
                </a:solidFill>
                <a:latin typeface="Consolas"/>
              </a:defRPr>
            </a:pPr>
            <a:r>
              <a:t>-- Find best paper in each track using scalar subquery</a:t>
            </a:r>
            <a:br/>
            <a:r>
              <a:t>SELECT p.paper_id, p.title, t.track_name,</a:t>
            </a:r>
            <a:br/>
            <a:r>
              <a:t>       ROUND(AVG(r.overall_score), 2) AS top_score</a:t>
            </a:r>
            <a:br/>
            <a:r>
              <a:t>FROM Papers p</a:t>
            </a:r>
            <a:br/>
            <a:r>
              <a:t>JOIN Tracks t ON p.track_id = t.track_id</a:t>
            </a:r>
            <a:br/>
            <a:r>
              <a:t>JOIN Paper_Assignments pa ON p.paper_id = pa.paper_id</a:t>
            </a:r>
            <a:br/>
            <a:r>
              <a:t>JOIN Reviews r ON pa.assignment_id = r.assignment_id</a:t>
            </a:r>
            <a:br/>
            <a:r>
              <a:t>GROUP BY p.paper_id</a:t>
            </a:r>
            <a:br/>
            <a:r>
              <a:t>HAVING AVG(r.overall_score) = (</a:t>
            </a:r>
            <a:br/>
            <a:r>
              <a:t>    SELECT MAX(avg_s) FROM (</a:t>
            </a:r>
            <a:br/>
            <a:r>
              <a:t>        SELECT AVG(r2.overall_score) as avg_s</a:t>
            </a:r>
            <a:br/>
            <a:r>
              <a:t>        FROM Papers p2</a:t>
            </a:r>
            <a:br/>
            <a:r>
              <a:t>        JOIN Paper_Assignments pa2 ON p2.paper_id = pa2.paper_id</a:t>
            </a:r>
            <a:br/>
            <a:r>
              <a:t>        JOIN Reviews r2 ON pa2.assignment_id = r2.assignment_id</a:t>
            </a:r>
            <a:br/>
            <a:r>
              <a:t>        WHERE p2.track_id = p.track_id</a:t>
            </a:r>
            <a:br/>
            <a:r>
              <a:t>        GROUP BY p2.paper_id</a:t>
            </a:r>
            <a:br/>
            <a:r>
              <a:t>    )</a:t>
            </a:r>
            <a:br/>
            <a:r>
              <a:t>);</a:t>
            </a:r>
          </a:p>
          <a:p>
            <a:pPr>
              <a:spcAft>
                <a:spcPts val="20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BUSINESS SIGNIFICANCE: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Automatically isolates candidates for 'Best Paper Award' across distinct academic disciplines.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Meaningful Views &amp; Reports: Review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SQL Object: `vw_pending_reviews`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Filters assignments with status = 'ASSIGNED'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Outputs: Paper title, Track, Reviewer name, Email, Due date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Live Result: Reviewers Stonebraker &amp; Goldwasser pending for Paper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3383280" cy="4572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VIEW 1: PENDING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SQL Object: `vw_reviewer_workload`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Aggregates total assigned, completed, and pending reviews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Calculates remaining capacity: (max_workload - total_assigned)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Live Result: Lamport (3/5), Stonebraker (3/4), Torvalds (3/4)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VIEW 2: REVIEWER WORKLOAD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SQL Object: `vw_paper_scores`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Aggregates multi-criteria ratings: Originality, Soundness, Clarity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Calculates overall average, min score, and max score spread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Live Result: P1 (8.67), P2 (8.33), P3 (8.33), P4 (8.67), P5 (4.67)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383280" cy="4572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VIEW 3: PAPER SCORES 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943600"/>
            <a:ext cx="105156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>
                <a:solidFill>
                  <a:srgbClr val="64748B"/>
                </a:solidFill>
                <a:latin typeface="Calibri"/>
              </a:defRPr>
            </a:pPr>
            <a:r>
              <a:t>✔ Real-time Decision Support: Program Chairs monitor pending assignments and reviewer capacity with a single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Meaningful Views &amp; Reports: Decisions &amp;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`vw_decisions_summary`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Audits Program Chair verdicts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Includes average score &amp; chair rationale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Live Result: 4 Accepted (scores ≥ 8.3), 1 Rejected (score 4.67)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2487168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VIEW 4: DECISIONS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`vw_accepted_papers`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Audits publication prerequisites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Verifies camera-ready upload flag = 1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Verifies author registration = 'PAID'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Live Result: 4 papers cleared for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463040"/>
            <a:ext cx="2487168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VIEW 5: ACCEPTED PAPERS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`vw_programme_schedule`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The master conference timetable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Joins Session, Room, Paper, Presenter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Ordered by date, room, and start_time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Live Result: 4 scheduled oral presentations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63040"/>
            <a:ext cx="2487168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VIEW 6: PROGRAMME TIMETABLE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`vw_track_statistics`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Summarizes performance per track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Calculates total submissions &amp; acceptance %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Live Result: AI/ML (100%), Cloud (50%), Crypto (100%), SE (0%)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463040"/>
            <a:ext cx="2487168" cy="4572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VIEW 7: TRACK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943600"/>
            <a:ext cx="10515600" cy="38404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5803D"/>
                </a:solidFill>
                <a:latin typeface="Calibri"/>
              </a:defRPr>
            </a:pPr>
            <a:r>
              <a:t>✔ All 7 Project Guidelines Reports Implemented: Pending reviews, workloads, scores, decisions, accepted, schedule &amp; stats.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Automated Business Rules &amp; Trigger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10515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B91C1C"/>
                </a:solidFill>
                <a:latin typeface="Calibri"/>
              </a:defRPr>
            </a:pPr>
            <a:r>
              <a:t>⚡  TRIGGER 1: CONFLICT OF INTEREST (COI) BAR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Event: BEFORE INSERT ON Paper_Assignments: Checks `Reviewer_Conflicts` for any co-author of the paper.</a:t>
            </a:r>
          </a:p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• Safeguard: Action: Aborts assignment with SQL exception if reviewer has an active collaborator, institutional or advisory conflict.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132588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10515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6D28D9"/>
                </a:solidFill>
                <a:latin typeface="Calibri"/>
              </a:defRPr>
            </a:pPr>
            <a:r>
              <a:t>⚡  TRIGGER 2: MANDATORY REVIEW QUOTA (≥ 3 REVIEWS)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Event: BEFORE INSERT ON Decisions: Verifies `COUNT(completed reviews) &gt;= 3` for that paper.</a:t>
            </a:r>
          </a:p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• Safeguard: Action: Prevents chair from recording an acceptance or rejection verdict prematurely on under-reviewed papers.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109728" cy="13258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389120"/>
            <a:ext cx="10515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15803D"/>
                </a:solidFill>
                <a:latin typeface="Calibri"/>
              </a:defRPr>
            </a:pPr>
            <a:r>
              <a:t>⚡  TRIGGER 3: PRESENTATION OVERLAP PREVENTION</a:t>
            </a:r>
          </a:p>
          <a:p>
            <a:pPr>
              <a:spcAft>
                <a:spcPts val="2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Event: BEFORE INSERT ON Presentation_Slots: Verifies room availability and co-author schedule conflicts.</a:t>
            </a:r>
          </a:p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• Safeguard: Action: Blocks slot allocation if any author is already scheduled in an overlapping time slot in another conference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89120"/>
            <a:ext cx="109728" cy="132588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E3A8A"/>
                </a:solidFill>
                <a:latin typeface="Calibri"/>
              </a:defRPr>
            </a:pPr>
            <a:r>
              <a:t>✔ Multi-Layered Defense: Level 1 = Declarative Constraints (CHECK/UNIQUE), Level 2 = Database Triggers.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Indexing Performance &amp; ACID Transaction 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B-TREE INDEXING ARCHITECTURE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✔ idx_papers_track:
</a:t>
            </a:r>
            <a:r>
              <a:rPr sz="1100">
                <a:solidFill>
                  <a:srgbClr val="1E293B"/>
                </a:solidFill>
              </a:rPr>
              <a:t>   On Papers(track_id) - Accelerates track-level filtering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✔ idx_papers_status:
</a:t>
            </a:r>
            <a:r>
              <a:rPr sz="1100">
                <a:solidFill>
                  <a:srgbClr val="1E293B"/>
                </a:solidFill>
              </a:rPr>
              <a:t>   On Papers(status) - Optimizes pending review queries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✔ idx_asgn_reviewer:
</a:t>
            </a:r>
            <a:r>
              <a:rPr sz="1100">
                <a:solidFill>
                  <a:srgbClr val="1E293B"/>
                </a:solidFill>
              </a:rPr>
              <a:t>   On Paper_Assignments(reviewer_id) - Speeds up workload view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✔ idx_asgn_paper:
</a:t>
            </a:r>
            <a:r>
              <a:rPr sz="1100">
                <a:solidFill>
                  <a:srgbClr val="1E293B"/>
                </a:solidFill>
              </a:rPr>
              <a:t>   On Paper_Assignments(paper_id) - Accelerates score aggregation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✔ idx_slots_paper:
</a:t>
            </a:r>
            <a:r>
              <a:rPr sz="1100">
                <a:solidFill>
                  <a:srgbClr val="1E293B"/>
                </a:solidFill>
              </a:rPr>
              <a:t>   On Presentation_Slots(paper_id) - Optimizes schedule joins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ACID TRANSACTION SCENARIOS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⚡ Atomic Reviewer Assignment:
</a:t>
            </a:r>
            <a:r>
              <a:rPr sz="1100">
                <a:solidFill>
                  <a:srgbClr val="1E293B"/>
                </a:solidFill>
              </a:rPr>
              <a:t>   Assigning 3 reviewers to a paper executes inside BEGIN TRANSACTION...COMMIT. If 1 reviewer triggers COI, ROLLBACK reverts all 3.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⚡ Editorial Decision Commit:
</a:t>
            </a:r>
            <a:r>
              <a:rPr sz="1100">
                <a:solidFill>
                  <a:srgbClr val="1E293B"/>
                </a:solidFill>
              </a:rPr>
              <a:t>   Recording chair verdict (ACCEPT) and unlocking camera-ready submission window occur atomically.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5803D"/>
                </a:solidFill>
              </a:rPr>
              <a:t>⚡ Concurrency Isolation:
</a:t>
            </a:r>
            <a:r>
              <a:rPr sz="1100">
                <a:solidFill>
                  <a:srgbClr val="1E293B"/>
                </a:solidFill>
              </a:rPr>
              <a:t>   Serializable isolation prevents race conditions where 2 chairs exceed a reviewer's max workload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Review 2 Summary &amp; Roadmap to Final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2 (Week 10: Implementation &amp; Queries)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645920"/>
            <a:ext cx="9601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REVIEW 2 DELIVERABLES COMPLETED (100%)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5803D"/>
                </a:solidFill>
              </a:rPr>
              <a:t>✔  Physical DDL Execution: </a:t>
            </a:r>
            <a:r>
              <a:rPr sz="1250">
                <a:solidFill>
                  <a:srgbClr val="1E293B"/>
                </a:solidFill>
              </a:rPr>
              <a:t>17 tables, primary keys, foreign key cascades, and domain constraints fully active.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5803D"/>
                </a:solidFill>
              </a:rPr>
              <a:t>✔  Realistic DML Dataset: </a:t>
            </a:r>
            <a:r>
              <a:rPr sz="1250">
                <a:solidFill>
                  <a:srgbClr val="1E293B"/>
                </a:solidFill>
              </a:rPr>
              <a:t>Populated across 4 tracks, simulating accepts, rejects, and live pending reviews.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5803D"/>
                </a:solidFill>
              </a:rPr>
              <a:t>✔  Advanced SQL Queries: </a:t>
            </a:r>
            <a:r>
              <a:rPr sz="1250">
                <a:solidFill>
                  <a:srgbClr val="1E293B"/>
                </a:solidFill>
              </a:rPr>
              <a:t>Multi-table joins, GROUP BY aggregations, HAVING clauses, correlated subqueries.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5803D"/>
                </a:solidFill>
              </a:rPr>
              <a:t>✔  7 Analytical Views: </a:t>
            </a:r>
            <a:r>
              <a:rPr sz="1250">
                <a:solidFill>
                  <a:srgbClr val="1E293B"/>
                </a:solidFill>
              </a:rPr>
              <a:t>Workloads, pending reviews, scores, decisions, accepted papers, timetable &amp; track statistics.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846320"/>
            <a:ext cx="96012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spcAft>
                <a:spcPts val="400"/>
              </a:spcAft>
              <a:defRPr sz="2400" b="1">
                <a:solidFill>
                  <a:srgbClr val="1E3A8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250">
                <a:solidFill>
                  <a:srgbClr val="64748B"/>
                </a:solidFill>
                <a:latin typeface="Calibri"/>
              </a:defRPr>
            </a:pPr>
            <a:r>
              <a:t>Next: Review 3 (Front-End Application &amp; End-to-End Conference Lifecycle Demo). Ready for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