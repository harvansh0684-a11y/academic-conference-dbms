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t>DATABASE MANAGEMENT SYSTEMS  •  REVIEW 1 (WEEK 7)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Academic Conference Paper Submission &amp;</a:t>
            </a:r>
            <a:br/>
            <a:r>
              <a:t>Review System DBMS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Conceptual ER Modeling  |  14 Principal Entities  |  3NF Relational Schema  |  Constraint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3246120" cy="2286000"/>
          </a:xfrm>
          <a:prstGeom prst="roundRect">
            <a:avLst/>
          </a:prstGeom>
          <a:solidFill>
            <a:srgbClr val="0F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🎯 REVIEW 1 FOCUS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✔  Problem Identification &amp; Scope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✔  User Roles &amp; Functional Requirements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✔  Conceptual ER Model (14 Entities)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✔  3NF Relational Schema &amp;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3566160"/>
            <a:ext cx="3246120" cy="2286000"/>
          </a:xfrm>
          <a:prstGeom prst="roundRect">
            <a:avLst/>
          </a:prstGeom>
          <a:solidFill>
            <a:srgbClr val="0F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⚙ KEY CAPABILITIES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⚡  Multi-Version Paper Tracking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⚡  Zero Conflict-of-Interest Assignment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⚡  Double-Blind Peer Review Support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⚡  Non-Overlapping Session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3566160"/>
            <a:ext cx="3246120" cy="2286000"/>
          </a:xfrm>
          <a:prstGeom prst="roundRect">
            <a:avLst/>
          </a:prstGeom>
          <a:solidFill>
            <a:srgbClr val="0F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👥 PRESENTATION DETAILS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 Course: CS304 - DBMS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 Milestone: Review 1 (Week 7)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 Presenter: [Student Name / Team]</a:t>
            </a:r>
          </a:p>
          <a:p>
            <a:pPr>
              <a:spcAft>
                <a:spcPts val="400"/>
              </a:spcAft>
              <a:defRPr sz="1100">
                <a:solidFill>
                  <a:srgbClr val="F1F5F9"/>
                </a:solidFill>
              </a:defRPr>
            </a:pPr>
            <a:r>
              <a:t>•  Target DBMS: PostgreSQL /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PROBLEM IDENTIFICATION &amp; MOTIVATION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Why We Need a Dedicated DBMS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8016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Academic Conference DBMS  |  Review 1 (Week 7)  |  Slide 2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6636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❌  TRADITIONAL EMAIL &amp; SPREADSHEET FLAWS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709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E11D48"/>
                </a:solidFill>
              </a:rPr>
              <a:t>•  Lost Versions: </a:t>
            </a:r>
            <a:r>
              <a:rPr sz="1150">
                <a:solidFill>
                  <a:srgbClr val="0F172A"/>
                </a:solidFill>
              </a:rPr>
              <a:t>Authors email revised PDFs; reviewers end up scoring obsolete drafts.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11D48"/>
                </a:solidFill>
              </a:rPr>
              <a:t>•  Conflict of Interest (COI): </a:t>
            </a:r>
            <a:r>
              <a:rPr sz="1150">
                <a:solidFill>
                  <a:srgbClr val="0F172A"/>
                </a:solidFill>
              </a:rPr>
              <a:t>Reviewers accidentally assigned papers by co-authors or colleagues, causing bias.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11D48"/>
                </a:solidFill>
              </a:rPr>
              <a:t>•  Workload Chaos: </a:t>
            </a:r>
            <a:r>
              <a:rPr sz="1150">
                <a:solidFill>
                  <a:srgbClr val="0F172A"/>
                </a:solidFill>
              </a:rPr>
              <a:t>Some reviewers get 10+ papers while others get zero; no deadline tracking.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11D48"/>
                </a:solidFill>
              </a:rPr>
              <a:t>•  Opaque Scores: </a:t>
            </a:r>
            <a:r>
              <a:rPr sz="1150">
                <a:solidFill>
                  <a:srgbClr val="0F172A"/>
                </a:solidFill>
              </a:rPr>
              <a:t>Unstructured feedback with no separation of confidential chair notes.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11D48"/>
                </a:solidFill>
              </a:rPr>
              <a:t>•  Schedule Clashes: </a:t>
            </a:r>
            <a:r>
              <a:rPr sz="1150">
                <a:solidFill>
                  <a:srgbClr val="0F172A"/>
                </a:solidFill>
              </a:rPr>
              <a:t>Authors with multiple papers double-booked across simultaneous halls.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1663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166360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✔  OUR RELATIONAL DBMS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709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0D9488"/>
                </a:solidFill>
              </a:rPr>
              <a:t>•  Multi-Version Store: </a:t>
            </a:r>
            <a:r>
              <a:rPr sz="1150">
                <a:solidFill>
                  <a:srgbClr val="0F172A"/>
                </a:solidFill>
              </a:rPr>
              <a:t>Dedicated table tracks V1, V2, and verified camera-ready files cleanly.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D9488"/>
                </a:solidFill>
              </a:rPr>
              <a:t>•  Automated COI Bar: </a:t>
            </a:r>
            <a:r>
              <a:rPr sz="1150">
                <a:solidFill>
                  <a:srgbClr val="0F172A"/>
                </a:solidFill>
              </a:rPr>
              <a:t>System blocks assigning reviewers with declared author conflicts.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D9488"/>
                </a:solidFill>
              </a:rPr>
              <a:t>•  Capacity Control: </a:t>
            </a:r>
            <a:r>
              <a:rPr sz="1150">
                <a:solidFill>
                  <a:srgbClr val="0F172A"/>
                </a:solidFill>
              </a:rPr>
              <a:t>Enforces max workload (default 5) and requires ≥3 reviews per paper.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D9488"/>
                </a:solidFill>
              </a:rPr>
              <a:t>•  Multi-Criteria Rubric: </a:t>
            </a:r>
            <a:r>
              <a:rPr sz="1150">
                <a:solidFill>
                  <a:srgbClr val="0F172A"/>
                </a:solidFill>
              </a:rPr>
              <a:t>1-10 scores for Originality, Soundness, Clarity + Private Chair comments.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D9488"/>
                </a:solidFill>
              </a:rPr>
              <a:t>•  Collision-Free Scheduling: </a:t>
            </a:r>
            <a:r>
              <a:rPr sz="1150">
                <a:solidFill>
                  <a:srgbClr val="0F172A"/>
                </a:solidFill>
              </a:rPr>
              <a:t>Validates presentation slots so no author or room overlaps.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SCOPE &amp; REQUIREMENTS OVERVIEW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Project Scope, Objectives &amp; User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8016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Academic Conference DBMS  |  Review 1 (Week 7)  |  Slide 3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4203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50" b="1">
                <a:solidFill>
                  <a:srgbClr val="1E3A8A"/>
                </a:solidFill>
              </a:defRPr>
            </a:pPr>
            <a:r>
              <a:t>🎯 1. 3NF Integrity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Normalized schema eliminating insertion, deletion, and update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4203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50" b="1">
                <a:solidFill>
                  <a:srgbClr val="0D9488"/>
                </a:solidFill>
              </a:defRPr>
            </a:pPr>
            <a:r>
              <a:t>🎯 2. Double-Blind Peer Review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Zero author-reviewer conflict bias via automated constraint checking.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254203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50" b="1">
                <a:solidFill>
                  <a:srgbClr val="D97706"/>
                </a:solidFill>
              </a:defRPr>
            </a:pPr>
            <a:r>
              <a:t>🎯 3. Multi-Version Audit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Immutable history separating initial review drafts from camera-ready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463040"/>
            <a:ext cx="254203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400"/>
              </a:spcAft>
              <a:defRPr sz="1150" b="1">
                <a:solidFill>
                  <a:srgbClr val="7C3AED"/>
                </a:solidFill>
              </a:defRPr>
            </a:pPr>
            <a:r>
              <a:t>🎯 4. Conflict-Free Timetable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Strict constraints preventing room double-booking and author slot overlaps.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1663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1E3A8A"/>
                </a:solidFill>
              </a:defRPr>
            </a:pPr>
            <a:r>
              <a:t>📦 PROJECT SCOPE (IN-SCOPE VS OUT-OF-SCOPE)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In-Scope (Review 1): </a:t>
            </a:r>
            <a:r>
              <a:rPr sz="1000">
                <a:solidFill>
                  <a:srgbClr val="475569"/>
                </a:solidFill>
              </a:rPr>
              <a:t>14 principal entities, normalized schema, primary/foreign keys, domain constraints.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In-Scope (Submission): </a:t>
            </a:r>
            <a:r>
              <a:rPr sz="1000">
                <a:solidFill>
                  <a:srgbClr val="475569"/>
                </a:solidFill>
              </a:rPr>
              <a:t>Multi-author, multi-track, multi-version tracking with blind manuscript storage.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In-Scope (Review Engine): </a:t>
            </a:r>
            <a:r>
              <a:rPr sz="1000">
                <a:solidFill>
                  <a:srgbClr val="475569"/>
                </a:solidFill>
              </a:rPr>
              <a:t>Expertise matching, explicit conflict registration, quota tracking, 1-10 scoring.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In-Scope (Scheduling): </a:t>
            </a:r>
            <a:r>
              <a:rPr sz="1000">
                <a:solidFill>
                  <a:srgbClr val="475569"/>
                </a:solidFill>
              </a:rPr>
              <a:t>Oral session allocation, non-overlapping hall time slots.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Delimited / Out-of-Scope: </a:t>
            </a:r>
            <a:r>
              <a:rPr sz="1000">
                <a:solidFill>
                  <a:srgbClr val="475569"/>
                </a:solidFill>
              </a:rPr>
              <a:t>Live banking payment gateway (simulated via transaction IDs) &amp; live WebRTC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👥 USER ROLES &amp; ACCESS CONTROL (RBAC)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Program Chair: </a:t>
            </a:r>
            <a:r>
              <a:rPr sz="1000">
                <a:solidFill>
                  <a:srgbClr val="475569"/>
                </a:solidFill>
              </a:rPr>
              <a:t>Overall conference management, final acceptance/rejection decisions, timetable approval.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Track Chair: </a:t>
            </a:r>
            <a:r>
              <a:rPr sz="1000">
                <a:solidFill>
                  <a:srgbClr val="475569"/>
                </a:solidFill>
              </a:rPr>
              <a:t>Manages papers and reviewers within a specific track (e.g. AI/ML, Networks).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Author: </a:t>
            </a:r>
            <a:r>
              <a:rPr sz="1000">
                <a:solidFill>
                  <a:srgbClr val="475569"/>
                </a:solidFill>
              </a:rPr>
              <a:t>Submits papers, uploads revisions, views final review feedback, registers for conference.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Reviewer: </a:t>
            </a:r>
            <a:r>
              <a:rPr sz="1000">
                <a:solidFill>
                  <a:srgbClr val="475569"/>
                </a:solidFill>
              </a:rPr>
              <a:t>Declares expertise &amp; conflicts, downloads blinded papers, submits 1-10 evaluation scores.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0F172A"/>
                </a:solidFill>
              </a:rPr>
              <a:t>• Attendee / Presenter: </a:t>
            </a:r>
            <a:r>
              <a:rPr sz="1000">
                <a:solidFill>
                  <a:srgbClr val="475569"/>
                </a:solidFill>
              </a:rPr>
              <a:t>Registers, pays conference fee, presents paper, accesses conference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SYSTEM WORKFLOW &amp; DATA FLOW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End-to-End Conference Lifecycle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8016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Academic Conference DBMS  |  Review 1 (Week 7)  |  Slide 4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6596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65960" cy="5486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17465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1E3A8A"/>
                </a:solidFill>
              </a:defRPr>
            </a:pPr>
            <a:r>
              <a:t>Author submits paper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Title &amp; Abstract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Co-author ordering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Blind PDF uploaded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Initial Version (V1)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3291840"/>
            <a:ext cx="13716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1645920"/>
            <a:ext cx="196596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645920"/>
            <a:ext cx="196596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COI &amp;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286000"/>
            <a:ext cx="17465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7C3AED"/>
                </a:solidFill>
              </a:defRPr>
            </a:pPr>
            <a:r>
              <a:t>Reviewer Profiling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Topic expertise setup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COI declared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System matches papers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Zero-conflict check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37760" y="3291840"/>
            <a:ext cx="13716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645920"/>
            <a:ext cx="196596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645920"/>
            <a:ext cx="196596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PEER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286000"/>
            <a:ext cx="17465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D97706"/>
                </a:solidFill>
              </a:defRPr>
            </a:pPr>
            <a:r>
              <a:t>Evaluation Stage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Min 3 reviews/paper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Scores 1-10 (4 metrics)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Author comments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Chair private notes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32320" y="3291840"/>
            <a:ext cx="13716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199" y="1645920"/>
            <a:ext cx="196596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199" y="1645920"/>
            <a:ext cx="1965960" cy="5486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286000"/>
            <a:ext cx="17465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E11D48"/>
                </a:solidFill>
              </a:defRPr>
            </a:pPr>
            <a:r>
              <a:t>Program Chair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Aggregates scores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Accept / Reject / Revise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Camera-ready upload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Feedback dispatched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26879" y="3291840"/>
            <a:ext cx="13716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09760" y="1645920"/>
            <a:ext cx="196596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1645920"/>
            <a:ext cx="196596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286000"/>
            <a:ext cx="17465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0D9488"/>
                </a:solidFill>
              </a:defRPr>
            </a:pPr>
            <a:r>
              <a:t>Conference Program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Author registration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Hall &amp; session booking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Zero room overlap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Zero author overlap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⚡ Automated Business Pipeline: Each stage is strictly validated by database constraints before advancing to the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SYSTEM FUNCTIONAL SPECIFICATIONS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Functional Requirements: 6 Core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8016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Academic Conference DBMS  |  Review 1 (Week 7)  |  Slide 5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3891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FR1: Paper &amp; Version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Unique submission ID auto-generated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Multi-author association &amp; sequence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Discrete versions (V1, V2, Camera-ready)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Blinded manuscripts for peer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554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8264" y="1554480"/>
            <a:ext cx="338328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FR2: Expertise &amp; Conflict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0574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Reviewers set topic ratings (Expert/Informed)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Explicit COI declaration (Co-author, Institution)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Automated assignment blocking on COI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Prevents self-review &amp; collaborator bias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554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1554480"/>
            <a:ext cx="338328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FR3: Assignment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0574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Reviewer capacity cap (Max workload = 5)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Mandatory quota: ≥3 reviews per paper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Topic matching algorithm support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Real-time pending review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33832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FR4: Multi-Criteria Review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Numerical evaluation [1-10] for 4 criteria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Originality, Technical Soundness, Clarity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Overall acceptance recommendation score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Separation: Public comments vs Private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388620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98264" y="3886200"/>
            <a:ext cx="3383280" cy="43891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FR5: Editorial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Program Chair records binding verdict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Accept, Reject, Major / Minor Revision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Gated by completed review count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Enables camera-ready upload upon Accept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388620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65008" y="3886200"/>
            <a:ext cx="338328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FR6: Registration &amp; Scheduling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Verifies paid registration for accepted papers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Thematic session &amp; room allocation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Prevents room double-booking</a:t>
            </a:r>
          </a:p>
          <a:p>
            <a:pPr>
              <a:spcAft>
                <a:spcPts val="250"/>
              </a:spcAft>
              <a:defRPr sz="1050">
                <a:solidFill>
                  <a:srgbClr val="0F172A"/>
                </a:solidFill>
              </a:defRPr>
            </a:pPr>
            <a:r>
              <a:t>✔ Zero overlapping time slots for same author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CORE CONCEPTUAL DATA MODEL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Conceptual Design: The 14 Principal Entities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8016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Academic Conference DBMS  |  Review 1 (Week 7)  |  Slide 6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6636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1: CONFERENCE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483717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1. Conferences: </a:t>
            </a:r>
            <a:r>
              <a:rPr sz="1000">
                <a:solidFill>
                  <a:srgbClr val="0F172A"/>
                </a:solidFill>
              </a:rPr>
              <a:t>Root event, acronym, year, dates, submission deadline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2. Tracks: </a:t>
            </a:r>
            <a:r>
              <a:rPr sz="1000">
                <a:solidFill>
                  <a:srgbClr val="0F172A"/>
                </a:solidFill>
              </a:rPr>
              <a:t>Conference subdivisions (e.g., AI/ML, Networks, Security)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1E3A8A"/>
                </a:solidFill>
              </a:rPr>
              <a:t>3. Topics: </a:t>
            </a:r>
            <a:r>
              <a:rPr sz="1000">
                <a:solidFill>
                  <a:srgbClr val="0F172A"/>
                </a:solidFill>
              </a:rPr>
              <a:t>Granular scientific keywords for paper &amp; expertise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1663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2: SUBMISSIONS &amp; VERSIONS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20240"/>
            <a:ext cx="483717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7C3AED"/>
                </a:solidFill>
              </a:rPr>
              <a:t>4. Authors: </a:t>
            </a:r>
            <a:r>
              <a:rPr sz="1000">
                <a:solidFill>
                  <a:srgbClr val="0F172A"/>
                </a:solidFill>
              </a:rPr>
              <a:t>Researcher profiles (ORCID, bio) linked to base Users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7C3AED"/>
                </a:solidFill>
              </a:rPr>
              <a:t>5. Papers: </a:t>
            </a:r>
            <a:r>
              <a:rPr sz="1000">
                <a:solidFill>
                  <a:srgbClr val="0F172A"/>
                </a:solidFill>
              </a:rPr>
              <a:t>Master submission tracking title, abstract, and status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7C3AED"/>
                </a:solidFill>
              </a:rPr>
              <a:t>6. Versions: </a:t>
            </a:r>
            <a:r>
              <a:rPr sz="1000">
                <a:solidFill>
                  <a:srgbClr val="0F172A"/>
                </a:solidFill>
              </a:rPr>
              <a:t>Document revisions (V1, V2, Camera-ready PDFs, changelogs)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6636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3: REVIEW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97680"/>
            <a:ext cx="483717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D97706"/>
                </a:solidFill>
              </a:rPr>
              <a:t>7. Reviewers: </a:t>
            </a:r>
            <a:r>
              <a:rPr sz="1000">
                <a:solidFill>
                  <a:srgbClr val="0F172A"/>
                </a:solidFill>
              </a:rPr>
              <a:t>Peer evaluator profiles with max workload limits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D97706"/>
                </a:solidFill>
              </a:rPr>
              <a:t>8. Expertise: </a:t>
            </a:r>
            <a:r>
              <a:rPr sz="1000">
                <a:solidFill>
                  <a:srgbClr val="0F172A"/>
                </a:solidFill>
              </a:rPr>
              <a:t>Reviewer competence mapping (Expert, Knowledgeable)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D97706"/>
                </a:solidFill>
              </a:rPr>
              <a:t>9. Conflicts: </a:t>
            </a:r>
            <a:r>
              <a:rPr sz="1000">
                <a:solidFill>
                  <a:srgbClr val="0F172A"/>
                </a:solidFill>
              </a:rPr>
              <a:t>Explicit COI declarations barring biased assignments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D97706"/>
                </a:solidFill>
              </a:rPr>
              <a:t>10. Assignments: </a:t>
            </a:r>
            <a:r>
              <a:rPr sz="1000">
                <a:solidFill>
                  <a:srgbClr val="0F172A"/>
                </a:solidFill>
              </a:rPr>
              <a:t>Dispatches papers to eligible, non-conflicted reviewers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D97706"/>
                </a:solidFill>
              </a:rPr>
              <a:t>11. Reviews: </a:t>
            </a:r>
            <a:r>
              <a:rPr sz="1000">
                <a:solidFill>
                  <a:srgbClr val="0F172A"/>
                </a:solidFill>
              </a:rPr>
              <a:t>1-10 scores (Originality, Soundness, Clarity) + comments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4048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516636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CLUSTER 4: DECISIONS &amp;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297680"/>
            <a:ext cx="483717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0D9488"/>
                </a:solidFill>
              </a:rPr>
              <a:t>12. Decisions: </a:t>
            </a:r>
            <a:r>
              <a:rPr sz="1000">
                <a:solidFill>
                  <a:srgbClr val="0F172A"/>
                </a:solidFill>
              </a:rPr>
              <a:t>Chair's binding verdict (Accept, Reject, Major/Minor Revise)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D9488"/>
                </a:solidFill>
              </a:rPr>
              <a:t>13. Registrations: </a:t>
            </a:r>
            <a:r>
              <a:rPr sz="1000">
                <a:solidFill>
                  <a:srgbClr val="0F172A"/>
                </a:solidFill>
              </a:rPr>
              <a:t>Author &amp; attendee conference fees and clearance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D9488"/>
                </a:solidFill>
              </a:rPr>
              <a:t>14. Presentation_Slots: </a:t>
            </a:r>
            <a:r>
              <a:rPr sz="1000">
                <a:solidFill>
                  <a:srgbClr val="0F172A"/>
                </a:solidFill>
              </a:rPr>
              <a:t>Hall, session, and time interval allocated to paper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172200"/>
            <a:ext cx="10728655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3A8A"/>
                </a:solidFill>
              </a:defRPr>
            </a:pPr>
            <a:r>
              <a:t>✔ All 14 Principal Entities from university syllabus explicitly modeled with primary keys, foreign keys &amp; relationships.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ENTITY RELATIONSHIPS &amp; CARDINALITIES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Conceptual ER Diagram: Relationship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8016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Academic Conference DBMS  |  Review 1 (Week 7)  |  Slide 7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11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Conferences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011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Tracks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2011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Topics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011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926080"/>
            <a:ext cx="2011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Authors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297680"/>
            <a:ext cx="2011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Papers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5486400"/>
            <a:ext cx="2011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Versions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011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Reviewers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2011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Conflicts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80"/>
            <a:ext cx="20116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Assignments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486400"/>
            <a:ext cx="2011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Reviews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194560"/>
            <a:ext cx="23774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474720"/>
            <a:ext cx="23774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Registrations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663440"/>
            <a:ext cx="237744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Sessions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5577840"/>
            <a:ext cx="237744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Presentation Slots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2286000" cy="9144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37160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KEY CARDINALITIES: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Conf 1:N Tracks 1:N Topics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Authors M:N Papers (Bridge)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• Paper M:N Reviewer → 1:1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RELATIONAL MODEL SPECIFICATIONS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Initial Relational Schema: Tables &amp; Key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8016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Academic Conference DBMS  |  Review 1 (Week 7)  |  Slide 8 of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2377440"/>
                <a:gridCol w="4876495"/>
              </a:tblGrid>
              <a:tr h="316992">
                <a:tc>
                  <a:txBody>
                    <a:bodyPr lIns="109728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Foreign Keys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Enforced Constraints &amp; Rules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Conferences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conference_id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UNIQUE(acronym, year), CHECK(end_date &gt;= start_date)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Tracks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track_id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conference_id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UNIQUE(conference_id, track_name)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Topics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topic_id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track_id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UNIQUE(track_id, topic_name)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UNIQUE(email), role IN ('CHAIR','AUTHOR','REVIEWER',...)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author_id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1:1 with Users; holds ORCID, 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Papers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paper_id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track_id, primary_author_id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status IN ('SUBMITTED','UNDER_REVIEW','ACCEPTED','REJECTED')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Paper_Authors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(paper_id, author_id)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paper_id, author_id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UNIQUE(paper_id, author_order), author_order &gt;=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Paper_Versions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version_id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paper_id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UNIQUE(paper_id, version_num), version_num &gt;=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Reviewers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reviewer_id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1:1 with Users; max_workload &gt; 0 (DEFAULT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Reviewer_Conflicts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conflict_id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reviewer_id, author_id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UNIQUE(reviewer_id, author_id); bars biased assignments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Paper_Assignments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assignment_id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paper_id, reviewer_id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UNIQUE(paper_id, reviewer_id), status IN ('ASSIGNED','COMPLETED')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review_id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assignment_id (UNIQUE)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CHECK scores BETWEEN 1 AND 10 for Originality, Soundness, Clarity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decision_id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paper_id (UNIQUE), chair_id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decision_type IN ('ACCEPT','REJECT','REVISE')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Presentation_Slots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E11D48"/>
                          </a:solidFill>
                        </a:defRPr>
                      </a:pPr>
                      <a:r>
                        <a:t>slot_id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</a:defRPr>
                      </a:pPr>
                      <a:r>
                        <a:t>session_id, paper_id (UNIQUE)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CHECK(end_time &gt; start_time), zero author slot overlaps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RELATIONAL NORMALIZATION PROOF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Normalization Strategy: 1NF → 2NF → 3NF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8016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Academic Conference DBMS  |  Review 1 (Week 7)  |  Slide 9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</a:defRPr>
            </a:pPr>
            <a:r>
              <a:t>1NF: ATOMIC VALUES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Condition: </a:t>
            </a:r>
            <a:r>
              <a:rPr sz="1050">
                <a:solidFill>
                  <a:srgbClr val="0F172A"/>
                </a:solidFill>
              </a:rPr>
              <a:t>All attributes contain atomic (indivisible) scalar values; no repeating groups or arrays.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Design Proof 1: </a:t>
            </a:r>
            <a:r>
              <a:rPr sz="1050">
                <a:solidFill>
                  <a:srgbClr val="0F172A"/>
                </a:solidFill>
              </a:rPr>
              <a:t>Co-authors previously stored in CSV string decomposed into `Paper_Authors` table.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Design Proof 2: </a:t>
            </a:r>
            <a:r>
              <a:rPr sz="1050">
                <a:solidFill>
                  <a:srgbClr val="0F172A"/>
                </a:solidFill>
              </a:rPr>
              <a:t>Multi-version files decomposed into `Paper_Versions` rather than arrays.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3A8A"/>
                </a:solidFill>
              </a:rPr>
              <a:t>Result: </a:t>
            </a:r>
            <a:r>
              <a:rPr sz="1050">
                <a:solidFill>
                  <a:srgbClr val="0F172A"/>
                </a:solidFill>
              </a:rPr>
              <a:t>Zero repeating groups; every attribute is strictly scalar.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463040"/>
            <a:ext cx="33832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2NF: NO PARTIAL KEYS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Condition: </a:t>
            </a:r>
            <a:r>
              <a:rPr sz="1050">
                <a:solidFill>
                  <a:srgbClr val="0F172A"/>
                </a:solidFill>
              </a:rPr>
              <a:t>1NF + no non-prime attribute depends on part of a composite primary key.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Design Proof 1: </a:t>
            </a:r>
            <a:r>
              <a:rPr sz="1050">
                <a:solidFill>
                  <a:srgbClr val="0F172A"/>
                </a:solidFill>
              </a:rPr>
              <a:t>In `Paper_Authors(paper_id, author_id)`, `author_order` depends on BOTH keys.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Design Proof 2: </a:t>
            </a:r>
            <a:r>
              <a:rPr sz="1050">
                <a:solidFill>
                  <a:srgbClr val="0F172A"/>
                </a:solidFill>
              </a:rPr>
              <a:t>Author names/bio are NOT in bridge table; they stay in `Authors` dependent on `author_id`.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D9488"/>
                </a:solidFill>
              </a:rPr>
              <a:t>Result: </a:t>
            </a:r>
            <a:r>
              <a:rPr sz="1050">
                <a:solidFill>
                  <a:srgbClr val="0F172A"/>
                </a:solidFill>
              </a:rPr>
              <a:t>Zero partial key dependencies across all bridge 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63040"/>
            <a:ext cx="33832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3NF: NO TRANSITIVE KEYS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</a:rPr>
              <a:t>Condition: </a:t>
            </a:r>
            <a:r>
              <a:rPr sz="1050">
                <a:solidFill>
                  <a:srgbClr val="0F172A"/>
                </a:solidFill>
              </a:rPr>
              <a:t>2NF + no transitive dependencies (X → Y where Y is non-prime).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</a:rPr>
              <a:t>Design Proof 1: </a:t>
            </a:r>
            <a:r>
              <a:rPr sz="1050">
                <a:solidFill>
                  <a:srgbClr val="0F172A"/>
                </a:solidFill>
              </a:rPr>
              <a:t>In `Papers`, track name is NOT stored; only `track_id` is referenced.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</a:rPr>
              <a:t>Design Proof 2: </a:t>
            </a:r>
            <a:r>
              <a:rPr sz="1050">
                <a:solidFill>
                  <a:srgbClr val="0F172A"/>
                </a:solidFill>
              </a:rPr>
              <a:t>Authors and Reviewers link to `user_id`; personal data is never duplicated.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</a:rPr>
              <a:t>Result: </a:t>
            </a:r>
            <a:r>
              <a:rPr sz="1050">
                <a:solidFill>
                  <a:srgbClr val="0F172A"/>
                </a:solidFill>
              </a:rPr>
              <a:t>Every non-key attribute depends ONLY on the Primary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✔ Anomaly Elimination: Insertion anomalies (tracks without papers), Deletion anomalies (papers deleted without losing authors), and Update anomalies (email updated in 1 row) are completely solved.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SYSTEM BUSINESS LOGIC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Integrity Constraints &amp; Business Rules Enforced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8016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Academic Conference DBMS  |  Review 1 (Week 7)  |  Slide 10 of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150" b="1">
                <a:solidFill>
                  <a:srgbClr val="1E3A8A"/>
                </a:solidFill>
              </a:defRPr>
            </a:pPr>
            <a:r>
              <a:t>✔  RULE 1: UNIQUE SUBMISSION IDENTIFIER</a:t>
            </a:r>
          </a:p>
          <a:p>
            <a:r>
              <a:rPr sz="1000">
                <a:solidFill>
                  <a:srgbClr val="0F172A"/>
                </a:solidFill>
              </a:rPr>
              <a:t>Every manuscript receives an auto-increment Primary Key `paper_id` ensuring non-repeatable, immutable tracking across its lifecycle.  </a:t>
            </a:r>
            <a:r>
              <a:rPr sz="950" b="1">
                <a:solidFill>
                  <a:srgbClr val="475569"/>
                </a:solidFill>
              </a:rPr>
              <a:t>[Enforced via: PRIMARY KEY on Papers(paper_id)]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9728" cy="822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150" b="1">
                <a:solidFill>
                  <a:srgbClr val="E11D48"/>
                </a:solidFill>
              </a:defRPr>
            </a:pPr>
            <a:r>
              <a:t>✔  RULE 2: STRICT CONFLICT OF INTEREST (COI) BAR</a:t>
            </a:r>
          </a:p>
          <a:p>
            <a:r>
              <a:rPr sz="1000">
                <a:solidFill>
                  <a:srgbClr val="0F172A"/>
                </a:solidFill>
              </a:rPr>
              <a:t>No reviewer may evaluate a paper authored by their collaborator, advisor, or same-institution peer.  </a:t>
            </a:r>
            <a:r>
              <a:rPr sz="950" b="1">
                <a:solidFill>
                  <a:srgbClr val="475569"/>
                </a:solidFill>
              </a:rPr>
              <a:t>[Enforced via: UNIQUE(paper_id, reviewer_id) + BEFORE INSERT Trigger on Reviewer_Conflicts]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9728" cy="8229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150" b="1">
                <a:solidFill>
                  <a:srgbClr val="7C3AED"/>
                </a:solidFill>
              </a:defRPr>
            </a:pPr>
            <a:r>
              <a:t>✔  RULE 3: MANDATORY REVIEW QUOTA THRESHOLD</a:t>
            </a:r>
          </a:p>
          <a:p>
            <a:r>
              <a:rPr sz="1000">
                <a:solidFill>
                  <a:srgbClr val="0F172A"/>
                </a:solidFill>
              </a:rPr>
              <a:t>A paper cannot enter final decision evaluation until at least 3 completed peer reviews are submitted.  </a:t>
            </a:r>
            <a:r>
              <a:rPr sz="950" b="1">
                <a:solidFill>
                  <a:srgbClr val="475569"/>
                </a:solidFill>
              </a:rPr>
              <a:t>[Enforced via: BEFORE INSERT Trigger on Decisions validating review count ≥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9728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150" b="1">
                <a:solidFill>
                  <a:srgbClr val="D97706"/>
                </a:solidFill>
              </a:defRPr>
            </a:pPr>
            <a:r>
              <a:t>✔  RULE 4: STANDARDIZED SCORE VALIDATION</a:t>
            </a:r>
          </a:p>
          <a:p>
            <a:r>
              <a:rPr sz="1000">
                <a:solidFill>
                  <a:srgbClr val="0F172A"/>
                </a:solidFill>
              </a:rPr>
              <a:t>Reviewers must submit integer ratings strictly between 1 and 10 across all 4 evaluation criteria.  </a:t>
            </a:r>
            <a:r>
              <a:rPr sz="950" b="1">
                <a:solidFill>
                  <a:srgbClr val="475569"/>
                </a:solidFill>
              </a:rPr>
              <a:t>[Enforced via: Table CHECK (score BETWEEN 1 AND 10) on Reviews]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9728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150" b="1">
                <a:solidFill>
                  <a:srgbClr val="0D9488"/>
                </a:solidFill>
              </a:defRPr>
            </a:pPr>
            <a:r>
              <a:t>✔  RULE 5: NON-OVERLAPPING PRESENTATION SLOTS</a:t>
            </a:r>
          </a:p>
          <a:p>
            <a:r>
              <a:rPr sz="1000">
                <a:solidFill>
                  <a:srgbClr val="0F172A"/>
                </a:solidFill>
              </a:rPr>
              <a:t>An author cannot be scheduled to present in simultaneous time slots across different conference halls.  </a:t>
            </a:r>
            <a:r>
              <a:rPr sz="950" b="1">
                <a:solidFill>
                  <a:srgbClr val="475569"/>
                </a:solidFill>
              </a:rPr>
              <a:t>[Enforced via: UNIQUE(paper_id) + BEFORE INSERT Trigger checking room &amp; author time overlap]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9728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</a:defRPr>
            </a:pPr>
            <a:r>
              <a:t>REVIEW 1 CONCLUSION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All Review 1 Milestones Successfully Formulated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3246120" cy="3017520"/>
          </a:xfrm>
          <a:prstGeom prst="roundRect">
            <a:avLst/>
          </a:prstGeom>
          <a:solidFill>
            <a:srgbClr val="0F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1. Deliverable 1 Complete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Clear problem definition based on email failure points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Demarcated in-scope vs out-of-scope boundaries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Role-Based Access Control matrix for 6 user roles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Detailed functional requirements for all 6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2468880"/>
            <a:ext cx="3246120" cy="3017520"/>
          </a:xfrm>
          <a:prstGeom prst="roundRect">
            <a:avLst/>
          </a:prstGeom>
          <a:solidFill>
            <a:srgbClr val="0F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2. Deliverable 2 Complete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All 14 principal entities explicitly cataloged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Associative tables resolve M:N relationships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Clear cardinalities (1:1, 1:N, M:N) mapped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Conceptual ER Diagram fully structured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468880"/>
            <a:ext cx="3246120" cy="3017520"/>
          </a:xfrm>
          <a:prstGeom prst="roundRect">
            <a:avLst/>
          </a:prstGeom>
          <a:solidFill>
            <a:srgbClr val="0F2240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3. Deliverable 3 Complete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1NF, 2NF, and 3NF normalization mathematically proven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Eliminated insertion, update &amp; deletion anomalies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PK, FK, UNIQUE, CHECK &amp; triggers defined</a:t>
            </a:r>
          </a:p>
          <a:p>
            <a:pPr>
              <a:spcAft>
                <a:spcPts val="400"/>
              </a:spcAft>
              <a:defRPr sz="1050">
                <a:solidFill>
                  <a:srgbClr val="F1F5F9"/>
                </a:solidFill>
              </a:defRPr>
            </a:pPr>
            <a:r>
              <a:t>✔  Executable schema.sql ready for immediate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Thank You! We are ready for your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